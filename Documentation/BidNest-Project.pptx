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Prata"/>
      <p:regular r:id="rId15"/>
    </p:embeddedFont>
    <p:embeddedFont>
      <p:font typeface="Raleway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rata-regular.fntdata"/><Relationship Id="rId14" Type="http://schemas.openxmlformats.org/officeDocument/2006/relationships/slide" Target="slides/slide10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slide" Target="slides/slide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2.xml"/><Relationship Id="rId18" Type="http://schemas.openxmlformats.org/officeDocument/2006/relationships/font" Target="fonts/Raleway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11" Type="http://schemas.openxmlformats.org/officeDocument/2006/relationships/image" Target="../media/image30.png"/><Relationship Id="rId10" Type="http://schemas.openxmlformats.org/officeDocument/2006/relationships/image" Target="../media/image33.png"/><Relationship Id="rId12" Type="http://schemas.openxmlformats.org/officeDocument/2006/relationships/image" Target="../media/image35.png"/><Relationship Id="rId9" Type="http://schemas.openxmlformats.org/officeDocument/2006/relationships/image" Target="../media/image29.png"/><Relationship Id="rId5" Type="http://schemas.openxmlformats.org/officeDocument/2006/relationships/image" Target="../media/image24.png"/><Relationship Id="rId6" Type="http://schemas.openxmlformats.org/officeDocument/2006/relationships/image" Target="../media/image28.png"/><Relationship Id="rId7" Type="http://schemas.openxmlformats.org/officeDocument/2006/relationships/image" Target="../media/image34.png"/><Relationship Id="rId8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Relationship Id="rId4" Type="http://schemas.openxmlformats.org/officeDocument/2006/relationships/image" Target="../media/image36.png"/><Relationship Id="rId5" Type="http://schemas.openxmlformats.org/officeDocument/2006/relationships/image" Target="../media/image38.png"/><Relationship Id="rId6" Type="http://schemas.openxmlformats.org/officeDocument/2006/relationships/image" Target="../media/image3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 title="new_-removebg-preview.png"/>
          <p:cNvPicPr preferRelativeResize="0"/>
          <p:nvPr/>
        </p:nvPicPr>
        <p:blipFill rotWithShape="1">
          <a:blip r:embed="rId3">
            <a:alphaModFix/>
          </a:blip>
          <a:srcRect b="-40926" l="8386" r="-2833" t="-21095"/>
          <a:stretch/>
        </p:blipFill>
        <p:spPr>
          <a:xfrm>
            <a:off x="8585950" y="0"/>
            <a:ext cx="619445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4450"/>
              <a:buFont typeface="Prata"/>
              <a:buNone/>
            </a:pPr>
            <a:r>
              <a:rPr b="0" i="0" lang="en-US" sz="445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BidNest Project - Comprehensive Analysis</a:t>
            </a:r>
            <a:endParaRPr b="0" i="0" sz="4450" u="none" cap="none" strike="noStrike"/>
          </a:p>
        </p:txBody>
      </p:sp>
      <p:sp>
        <p:nvSpPr>
          <p:cNvPr id="58" name="Google Shape;58;p13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BidNest is a comprehensive online auction platform built with ASP.NET Core 8.0 and Entity Framework. It facilitates real-time bidding on various items with separate interfaces for administrators, sellers, and buyers.</a:t>
            </a:r>
            <a:endParaRPr b="0" i="0" sz="1750" u="none" cap="none" strike="noStrike"/>
          </a:p>
        </p:txBody>
      </p:sp>
      <p:sp>
        <p:nvSpPr>
          <p:cNvPr id="59" name="Google Shape;59;p13"/>
          <p:cNvSpPr/>
          <p:nvPr/>
        </p:nvSpPr>
        <p:spPr>
          <a:xfrm>
            <a:off x="12815900" y="7736675"/>
            <a:ext cx="1814400" cy="492900"/>
          </a:xfrm>
          <a:prstGeom prst="rect">
            <a:avLst/>
          </a:prstGeom>
          <a:solidFill>
            <a:srgbClr val="1B1C1D"/>
          </a:solidFill>
          <a:ln cap="flat" cmpd="sng" w="9525">
            <a:solidFill>
              <a:srgbClr val="1B1C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5829275" y="107150"/>
            <a:ext cx="870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Muhammad Sameer | Muhammad Shahneel |Muhammad Arham | Muhammad Abdullah | Muhammad Ibad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793790" y="710565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4450"/>
              <a:buFont typeface="Prata"/>
              <a:buNone/>
            </a:pPr>
            <a:r>
              <a:rPr b="0" i="0" lang="en-US" sz="445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Technical Stack</a:t>
            </a:r>
            <a:endParaRPr b="0" i="0" sz="4450" u="none" cap="none" strike="noStrike"/>
          </a:p>
        </p:txBody>
      </p:sp>
      <p:sp>
        <p:nvSpPr>
          <p:cNvPr id="67" name="Google Shape;67;p14"/>
          <p:cNvSpPr/>
          <p:nvPr/>
        </p:nvSpPr>
        <p:spPr>
          <a:xfrm>
            <a:off x="793790" y="1872972"/>
            <a:ext cx="4196358" cy="1730812"/>
          </a:xfrm>
          <a:prstGeom prst="roundRect">
            <a:avLst>
              <a:gd fmla="val 8453" name="adj"/>
            </a:avLst>
          </a:prstGeom>
          <a:solidFill>
            <a:srgbClr val="1B1C1D"/>
          </a:solidFill>
          <a:ln cap="flat" cmpd="sng" w="30475">
            <a:solidFill>
              <a:srgbClr val="5354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310" y="1872972"/>
            <a:ext cx="121920" cy="173081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1142524" y="213026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2200"/>
              <a:buFont typeface="Prata"/>
              <a:buNone/>
            </a:pPr>
            <a:r>
              <a:rPr b="0" i="0" lang="en-US" sz="220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Framework</a:t>
            </a:r>
            <a:endParaRPr b="0" i="0" sz="2200" u="none" cap="none" strike="noStrike"/>
          </a:p>
        </p:txBody>
      </p:sp>
      <p:sp>
        <p:nvSpPr>
          <p:cNvPr id="70" name="Google Shape;70;p14"/>
          <p:cNvSpPr/>
          <p:nvPr/>
        </p:nvSpPr>
        <p:spPr>
          <a:xfrm>
            <a:off x="1142524" y="2620685"/>
            <a:ext cx="359033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ASP.NET Core 8.0 MVC</a:t>
            </a:r>
            <a:endParaRPr b="0" i="0" sz="1750" u="none" cap="none" strike="noStrike"/>
          </a:p>
        </p:txBody>
      </p:sp>
      <p:sp>
        <p:nvSpPr>
          <p:cNvPr id="71" name="Google Shape;71;p14"/>
          <p:cNvSpPr/>
          <p:nvPr/>
        </p:nvSpPr>
        <p:spPr>
          <a:xfrm>
            <a:off x="5216962" y="1872972"/>
            <a:ext cx="4196358" cy="1730812"/>
          </a:xfrm>
          <a:prstGeom prst="roundRect">
            <a:avLst>
              <a:gd fmla="val 8453" name="adj"/>
            </a:avLst>
          </a:prstGeom>
          <a:solidFill>
            <a:srgbClr val="1B1C1D"/>
          </a:solidFill>
          <a:ln cap="flat" cmpd="sng" w="30475">
            <a:solidFill>
              <a:srgbClr val="5354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6482" y="1872972"/>
            <a:ext cx="121920" cy="17308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/>
          <p:nvPr/>
        </p:nvSpPr>
        <p:spPr>
          <a:xfrm>
            <a:off x="5565696" y="213026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2200"/>
              <a:buFont typeface="Prata"/>
              <a:buNone/>
            </a:pPr>
            <a:r>
              <a:rPr b="0" i="0" lang="en-US" sz="220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Database</a:t>
            </a:r>
            <a:endParaRPr b="0" i="0" sz="2200" u="none" cap="none" strike="noStrike"/>
          </a:p>
        </p:txBody>
      </p:sp>
      <p:sp>
        <p:nvSpPr>
          <p:cNvPr id="74" name="Google Shape;74;p14"/>
          <p:cNvSpPr/>
          <p:nvPr/>
        </p:nvSpPr>
        <p:spPr>
          <a:xfrm>
            <a:off x="5565696" y="2620685"/>
            <a:ext cx="359033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SQL Server with Entity Framework Core</a:t>
            </a:r>
            <a:endParaRPr b="0" i="0" sz="1750" u="none" cap="none" strike="noStrike"/>
          </a:p>
        </p:txBody>
      </p:sp>
      <p:sp>
        <p:nvSpPr>
          <p:cNvPr id="75" name="Google Shape;75;p14"/>
          <p:cNvSpPr/>
          <p:nvPr/>
        </p:nvSpPr>
        <p:spPr>
          <a:xfrm>
            <a:off x="9640133" y="1872972"/>
            <a:ext cx="4196358" cy="1730812"/>
          </a:xfrm>
          <a:prstGeom prst="roundRect">
            <a:avLst>
              <a:gd fmla="val 8453" name="adj"/>
            </a:avLst>
          </a:prstGeom>
          <a:solidFill>
            <a:srgbClr val="1B1C1D"/>
          </a:solidFill>
          <a:ln cap="flat" cmpd="sng" w="30475">
            <a:solidFill>
              <a:srgbClr val="5354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9653" y="1872972"/>
            <a:ext cx="121920" cy="1730812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/>
          <p:nvPr/>
        </p:nvSpPr>
        <p:spPr>
          <a:xfrm>
            <a:off x="9988868" y="213026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2200"/>
              <a:buFont typeface="Prata"/>
              <a:buNone/>
            </a:pPr>
            <a:r>
              <a:rPr b="0" i="0" lang="en-US" sz="220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Authentication</a:t>
            </a:r>
            <a:endParaRPr b="0" i="0" sz="2200" u="none" cap="none" strike="noStrike"/>
          </a:p>
        </p:txBody>
      </p:sp>
      <p:sp>
        <p:nvSpPr>
          <p:cNvPr id="78" name="Google Shape;78;p14"/>
          <p:cNvSpPr/>
          <p:nvPr/>
        </p:nvSpPr>
        <p:spPr>
          <a:xfrm>
            <a:off x="9988868" y="2620685"/>
            <a:ext cx="359033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Cookie-based authentication</a:t>
            </a:r>
            <a:endParaRPr b="0" i="0" sz="1750" u="none" cap="none" strike="noStrike"/>
          </a:p>
        </p:txBody>
      </p:sp>
      <p:sp>
        <p:nvSpPr>
          <p:cNvPr id="79" name="Google Shape;79;p14"/>
          <p:cNvSpPr/>
          <p:nvPr/>
        </p:nvSpPr>
        <p:spPr>
          <a:xfrm>
            <a:off x="793790" y="3830598"/>
            <a:ext cx="4196358" cy="1730812"/>
          </a:xfrm>
          <a:prstGeom prst="roundRect">
            <a:avLst>
              <a:gd fmla="val 8453" name="adj"/>
            </a:avLst>
          </a:prstGeom>
          <a:solidFill>
            <a:srgbClr val="1B1C1D"/>
          </a:solidFill>
          <a:ln cap="flat" cmpd="sng" w="30475">
            <a:solidFill>
              <a:srgbClr val="5354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310" y="3830598"/>
            <a:ext cx="121920" cy="173081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/>
          <p:nvPr/>
        </p:nvSpPr>
        <p:spPr>
          <a:xfrm>
            <a:off x="1142524" y="408789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2200"/>
              <a:buFont typeface="Prata"/>
              <a:buNone/>
            </a:pPr>
            <a:r>
              <a:rPr b="0" i="0" lang="en-US" sz="220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Real-time</a:t>
            </a:r>
            <a:endParaRPr b="0" i="0" sz="2200" u="none" cap="none" strike="noStrike"/>
          </a:p>
        </p:txBody>
      </p:sp>
      <p:sp>
        <p:nvSpPr>
          <p:cNvPr id="82" name="Google Shape;82;p14"/>
          <p:cNvSpPr/>
          <p:nvPr/>
        </p:nvSpPr>
        <p:spPr>
          <a:xfrm>
            <a:off x="1142524" y="4578310"/>
            <a:ext cx="359033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SignalR for live bidding</a:t>
            </a:r>
            <a:endParaRPr b="0" i="0" sz="1750" u="none" cap="none" strike="noStrike"/>
          </a:p>
        </p:txBody>
      </p:sp>
      <p:sp>
        <p:nvSpPr>
          <p:cNvPr id="83" name="Google Shape;83;p14"/>
          <p:cNvSpPr/>
          <p:nvPr/>
        </p:nvSpPr>
        <p:spPr>
          <a:xfrm>
            <a:off x="5216962" y="3830598"/>
            <a:ext cx="4196358" cy="1730812"/>
          </a:xfrm>
          <a:prstGeom prst="roundRect">
            <a:avLst>
              <a:gd fmla="val 8453" name="adj"/>
            </a:avLst>
          </a:prstGeom>
          <a:solidFill>
            <a:srgbClr val="1B1C1D"/>
          </a:solidFill>
          <a:ln cap="flat" cmpd="sng" w="30475">
            <a:solidFill>
              <a:srgbClr val="5354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" name="Google Shape;8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6482" y="3830598"/>
            <a:ext cx="121920" cy="17308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4"/>
          <p:cNvSpPr/>
          <p:nvPr/>
        </p:nvSpPr>
        <p:spPr>
          <a:xfrm>
            <a:off x="5565696" y="408789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2200"/>
              <a:buFont typeface="Prata"/>
              <a:buNone/>
            </a:pPr>
            <a:r>
              <a:rPr b="0" i="0" lang="en-US" sz="220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Frontend</a:t>
            </a:r>
            <a:endParaRPr b="0" i="0" sz="2200" u="none" cap="none" strike="noStrike"/>
          </a:p>
        </p:txBody>
      </p:sp>
      <p:sp>
        <p:nvSpPr>
          <p:cNvPr id="86" name="Google Shape;86;p14"/>
          <p:cNvSpPr/>
          <p:nvPr/>
        </p:nvSpPr>
        <p:spPr>
          <a:xfrm>
            <a:off x="5565696" y="4578310"/>
            <a:ext cx="359033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Razor Views with Bootstrap, JavaScript</a:t>
            </a:r>
            <a:endParaRPr b="0" i="0" sz="1750" u="none" cap="none" strike="noStrike"/>
          </a:p>
        </p:txBody>
      </p:sp>
      <p:sp>
        <p:nvSpPr>
          <p:cNvPr id="87" name="Google Shape;87;p14"/>
          <p:cNvSpPr/>
          <p:nvPr/>
        </p:nvSpPr>
        <p:spPr>
          <a:xfrm>
            <a:off x="9640133" y="3830598"/>
            <a:ext cx="4196358" cy="1730812"/>
          </a:xfrm>
          <a:prstGeom prst="roundRect">
            <a:avLst>
              <a:gd fmla="val 8453" name="adj"/>
            </a:avLst>
          </a:prstGeom>
          <a:solidFill>
            <a:srgbClr val="1B1C1D"/>
          </a:solidFill>
          <a:ln cap="flat" cmpd="sng" w="30475">
            <a:solidFill>
              <a:srgbClr val="5354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" name="Google Shape;8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9653" y="3830598"/>
            <a:ext cx="121920" cy="17308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4"/>
          <p:cNvSpPr/>
          <p:nvPr/>
        </p:nvSpPr>
        <p:spPr>
          <a:xfrm>
            <a:off x="9988868" y="408789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2200"/>
              <a:buFont typeface="Prata"/>
              <a:buNone/>
            </a:pPr>
            <a:r>
              <a:rPr b="0" i="0" lang="en-US" sz="220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Security</a:t>
            </a:r>
            <a:endParaRPr b="0" i="0" sz="2200" u="none" cap="none" strike="noStrike"/>
          </a:p>
        </p:txBody>
      </p:sp>
      <p:sp>
        <p:nvSpPr>
          <p:cNvPr id="90" name="Google Shape;90;p14"/>
          <p:cNvSpPr/>
          <p:nvPr/>
        </p:nvSpPr>
        <p:spPr>
          <a:xfrm>
            <a:off x="9988868" y="4578310"/>
            <a:ext cx="359033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BCrypt for password hashing</a:t>
            </a:r>
            <a:endParaRPr b="0" i="0" sz="1750" u="none" cap="none" strike="noStrike"/>
          </a:p>
        </p:txBody>
      </p:sp>
      <p:sp>
        <p:nvSpPr>
          <p:cNvPr id="91" name="Google Shape;91;p14"/>
          <p:cNvSpPr/>
          <p:nvPr/>
        </p:nvSpPr>
        <p:spPr>
          <a:xfrm>
            <a:off x="793790" y="5788223"/>
            <a:ext cx="4196358" cy="1730812"/>
          </a:xfrm>
          <a:prstGeom prst="roundRect">
            <a:avLst>
              <a:gd fmla="val 8453" name="adj"/>
            </a:avLst>
          </a:prstGeom>
          <a:solidFill>
            <a:srgbClr val="1B1C1D"/>
          </a:solidFill>
          <a:ln cap="flat" cmpd="sng" w="30475">
            <a:solidFill>
              <a:srgbClr val="5354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310" y="5788223"/>
            <a:ext cx="121920" cy="173081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1142524" y="604551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2200"/>
              <a:buFont typeface="Prata"/>
              <a:buNone/>
            </a:pPr>
            <a:r>
              <a:rPr b="0" i="0" lang="en-US" sz="220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File Handling</a:t>
            </a:r>
            <a:endParaRPr b="0" i="0" sz="2200" u="none" cap="none" strike="noStrike"/>
          </a:p>
        </p:txBody>
      </p:sp>
      <p:sp>
        <p:nvSpPr>
          <p:cNvPr id="94" name="Google Shape;94;p14"/>
          <p:cNvSpPr/>
          <p:nvPr/>
        </p:nvSpPr>
        <p:spPr>
          <a:xfrm>
            <a:off x="1142524" y="6535936"/>
            <a:ext cx="359033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Image upload and management system</a:t>
            </a:r>
            <a:endParaRPr b="0" i="0" sz="1750" u="none" cap="none" strike="noStrike"/>
          </a:p>
        </p:txBody>
      </p:sp>
      <p:sp>
        <p:nvSpPr>
          <p:cNvPr id="95" name="Google Shape;95;p14"/>
          <p:cNvSpPr/>
          <p:nvPr/>
        </p:nvSpPr>
        <p:spPr>
          <a:xfrm>
            <a:off x="12815900" y="7736675"/>
            <a:ext cx="1814400" cy="492900"/>
          </a:xfrm>
          <a:prstGeom prst="rect">
            <a:avLst/>
          </a:prstGeom>
          <a:solidFill>
            <a:srgbClr val="1B1C1D"/>
          </a:solidFill>
          <a:ln cap="flat" cmpd="sng" w="9525">
            <a:solidFill>
              <a:srgbClr val="1B1C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907800" y="0"/>
            <a:ext cx="872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Muhammad Sameer | Muhammad Shahneel |Muhammad Arham | Muhammad Abdullah | Muhammad Ibad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/>
          <p:nvPr/>
        </p:nvSpPr>
        <p:spPr>
          <a:xfrm>
            <a:off x="396835" y="311825"/>
            <a:ext cx="497490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2200"/>
              <a:buFont typeface="Prata"/>
              <a:buNone/>
            </a:pPr>
            <a:r>
              <a:rPr b="0" i="0" lang="en-US" sz="220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Database Architecture: Core Entities</a:t>
            </a:r>
            <a:endParaRPr b="0" i="0" sz="2200" u="none" cap="none" strike="noStrike"/>
          </a:p>
        </p:txBody>
      </p:sp>
      <p:pic>
        <p:nvPicPr>
          <p:cNvPr descr="preencoded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835" y="892969"/>
            <a:ext cx="13836729" cy="718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/>
          <p:nvPr/>
        </p:nvSpPr>
        <p:spPr>
          <a:xfrm>
            <a:off x="6447662" y="3900560"/>
            <a:ext cx="1707437" cy="115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Prata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Prata"/>
                <a:ea typeface="Prata"/>
                <a:cs typeface="Prata"/>
                <a:sym typeface="Prata"/>
              </a:rPr>
              <a:t>Auction Platform Entities</a:t>
            </a:r>
            <a:endParaRPr b="0" i="0" sz="1350" u="none" cap="none" strike="noStrike"/>
          </a:p>
        </p:txBody>
      </p:sp>
      <p:pic>
        <p:nvPicPr>
          <p:cNvPr descr="preencoded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8873" y="2798196"/>
            <a:ext cx="347463" cy="34746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/>
          <p:nvPr/>
        </p:nvSpPr>
        <p:spPr>
          <a:xfrm>
            <a:off x="724332" y="2375605"/>
            <a:ext cx="2991430" cy="3841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350"/>
              <a:buFont typeface="Prata"/>
              <a:buNone/>
            </a:pPr>
            <a:r>
              <a:rPr b="0" i="0" lang="en-US" sz="135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Users &amp; Roles</a:t>
            </a:r>
            <a:endParaRPr b="0" i="0" sz="1350" u="none" cap="none" strike="noStrike"/>
          </a:p>
        </p:txBody>
      </p:sp>
      <p:sp>
        <p:nvSpPr>
          <p:cNvPr id="107" name="Google Shape;107;p15"/>
          <p:cNvSpPr/>
          <p:nvPr/>
        </p:nvSpPr>
        <p:spPr>
          <a:xfrm>
            <a:off x="724332" y="2869054"/>
            <a:ext cx="2991430" cy="614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Accounts with role-based access (Admin, User)</a:t>
            </a:r>
            <a:endParaRPr b="0" i="0" sz="1050" u="none" cap="none" strike="noStrike"/>
          </a:p>
        </p:txBody>
      </p:sp>
      <p:sp>
        <p:nvSpPr>
          <p:cNvPr id="108" name="Google Shape;108;p15"/>
          <p:cNvSpPr/>
          <p:nvPr/>
        </p:nvSpPr>
        <p:spPr>
          <a:xfrm>
            <a:off x="10914318" y="2375605"/>
            <a:ext cx="2991430" cy="3841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350"/>
              <a:buFont typeface="Prata"/>
              <a:buNone/>
            </a:pPr>
            <a:r>
              <a:rPr b="0" i="0" lang="en-US" sz="135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Items &amp; Categories</a:t>
            </a:r>
            <a:endParaRPr b="0" i="0" sz="1350" u="none" cap="none" strike="noStrike"/>
          </a:p>
        </p:txBody>
      </p:sp>
      <p:sp>
        <p:nvSpPr>
          <p:cNvPr id="109" name="Google Shape;109;p15"/>
          <p:cNvSpPr/>
          <p:nvPr/>
        </p:nvSpPr>
        <p:spPr>
          <a:xfrm>
            <a:off x="10914318" y="2869054"/>
            <a:ext cx="2991430" cy="614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Listings grouped by category with images</a:t>
            </a:r>
            <a:endParaRPr b="0" i="0" sz="1050" u="none" cap="none" strike="noStrike"/>
          </a:p>
        </p:txBody>
      </p:sp>
      <p:pic>
        <p:nvPicPr>
          <p:cNvPr descr="preencoded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4472" y="2060583"/>
            <a:ext cx="347463" cy="347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1" name="Google Shape;1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26877" y="5775967"/>
            <a:ext cx="347463" cy="34746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/>
          <p:nvPr/>
        </p:nvSpPr>
        <p:spPr>
          <a:xfrm>
            <a:off x="724332" y="5571928"/>
            <a:ext cx="2991430" cy="384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350"/>
              <a:buFont typeface="Prata"/>
              <a:buNone/>
            </a:pPr>
            <a:r>
              <a:rPr b="0" i="0" lang="en-US" sz="135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Bids &amp; Watchlist</a:t>
            </a:r>
            <a:endParaRPr b="0" i="0" sz="1350" u="none" cap="none" strike="noStrike"/>
          </a:p>
        </p:txBody>
      </p:sp>
      <p:sp>
        <p:nvSpPr>
          <p:cNvPr id="113" name="Google Shape;113;p15"/>
          <p:cNvSpPr/>
          <p:nvPr/>
        </p:nvSpPr>
        <p:spPr>
          <a:xfrm>
            <a:off x="724332" y="6065377"/>
            <a:ext cx="2991430" cy="614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Bidding history and saved items tracking</a:t>
            </a:r>
            <a:endParaRPr b="0" i="0" sz="1050" u="none" cap="none" strike="noStrike"/>
          </a:p>
        </p:txBody>
      </p:sp>
      <p:sp>
        <p:nvSpPr>
          <p:cNvPr id="114" name="Google Shape;114;p15"/>
          <p:cNvSpPr/>
          <p:nvPr/>
        </p:nvSpPr>
        <p:spPr>
          <a:xfrm>
            <a:off x="10914318" y="5571928"/>
            <a:ext cx="2991430" cy="768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350"/>
              <a:buFont typeface="Prata"/>
              <a:buNone/>
            </a:pPr>
            <a:r>
              <a:rPr b="0" i="0" lang="en-US" sz="135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Notifications &amp; Ratings</a:t>
            </a:r>
            <a:endParaRPr b="0" i="0" sz="1350" u="none" cap="none" strike="noStrike"/>
          </a:p>
        </p:txBody>
      </p:sp>
      <p:sp>
        <p:nvSpPr>
          <p:cNvPr id="115" name="Google Shape;115;p15"/>
          <p:cNvSpPr/>
          <p:nvPr/>
        </p:nvSpPr>
        <p:spPr>
          <a:xfrm>
            <a:off x="10914318" y="6449551"/>
            <a:ext cx="2991430" cy="614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050"/>
              <a:buFont typeface="Raleway"/>
              <a:buNone/>
            </a:pPr>
            <a:r>
              <a:rPr b="0" i="0" lang="en-US" sz="10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Alerts, messages, feedback and contact</a:t>
            </a:r>
            <a:endParaRPr b="0" i="0" sz="1050" u="none" cap="none" strike="noStrike"/>
          </a:p>
        </p:txBody>
      </p:sp>
      <p:pic>
        <p:nvPicPr>
          <p:cNvPr descr="preencoded.png" id="116" name="Google Shape;11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15959" y="6909705"/>
            <a:ext cx="347464" cy="34746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/>
          <p:nvPr/>
        </p:nvSpPr>
        <p:spPr>
          <a:xfrm>
            <a:off x="396835" y="8204835"/>
            <a:ext cx="13836729" cy="18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850"/>
              <a:buFont typeface="Raleway"/>
              <a:buChar char="•"/>
            </a:pPr>
            <a:r>
              <a:rPr b="0" i="0" lang="en-US" sz="8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Users (with role-based access)</a:t>
            </a:r>
            <a:endParaRPr b="0" i="0" sz="850" u="none" cap="none" strike="noStrike"/>
          </a:p>
        </p:txBody>
      </p:sp>
      <p:sp>
        <p:nvSpPr>
          <p:cNvPr id="118" name="Google Shape;118;p15"/>
          <p:cNvSpPr/>
          <p:nvPr/>
        </p:nvSpPr>
        <p:spPr>
          <a:xfrm>
            <a:off x="396835" y="8425934"/>
            <a:ext cx="13836729" cy="18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850"/>
              <a:buFont typeface="Raleway"/>
              <a:buChar char="•"/>
            </a:pPr>
            <a:r>
              <a:rPr b="0" i="0" lang="en-US" sz="8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Items (auction listings)</a:t>
            </a:r>
            <a:endParaRPr b="0" i="0" sz="850" u="none" cap="none" strike="noStrike"/>
          </a:p>
        </p:txBody>
      </p:sp>
      <p:sp>
        <p:nvSpPr>
          <p:cNvPr id="119" name="Google Shape;119;p15"/>
          <p:cNvSpPr/>
          <p:nvPr/>
        </p:nvSpPr>
        <p:spPr>
          <a:xfrm>
            <a:off x="396835" y="8647033"/>
            <a:ext cx="13836729" cy="18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850"/>
              <a:buFont typeface="Raleway"/>
              <a:buChar char="•"/>
            </a:pPr>
            <a:r>
              <a:rPr b="0" i="0" lang="en-US" sz="8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Bids (bidding records)</a:t>
            </a:r>
            <a:endParaRPr b="0" i="0" sz="850" u="none" cap="none" strike="noStrike"/>
          </a:p>
        </p:txBody>
      </p:sp>
      <p:sp>
        <p:nvSpPr>
          <p:cNvPr id="120" name="Google Shape;120;p15"/>
          <p:cNvSpPr/>
          <p:nvPr/>
        </p:nvSpPr>
        <p:spPr>
          <a:xfrm>
            <a:off x="396835" y="8868132"/>
            <a:ext cx="13836729" cy="18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850"/>
              <a:buFont typeface="Raleway"/>
              <a:buChar char="•"/>
            </a:pPr>
            <a:r>
              <a:rPr b="0" i="0" lang="en-US" sz="8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Categories (item categorization)</a:t>
            </a:r>
            <a:endParaRPr b="0" i="0" sz="850" u="none" cap="none" strike="noStrike"/>
          </a:p>
        </p:txBody>
      </p:sp>
      <p:sp>
        <p:nvSpPr>
          <p:cNvPr id="121" name="Google Shape;121;p15"/>
          <p:cNvSpPr/>
          <p:nvPr/>
        </p:nvSpPr>
        <p:spPr>
          <a:xfrm>
            <a:off x="396835" y="9089231"/>
            <a:ext cx="13836729" cy="18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850"/>
              <a:buFont typeface="Raleway"/>
              <a:buChar char="•"/>
            </a:pPr>
            <a:r>
              <a:rPr b="0" i="0" lang="en-US" sz="8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Roles (Admin, User)</a:t>
            </a:r>
            <a:endParaRPr b="0" i="0" sz="850" u="none" cap="none" strike="noStrike"/>
          </a:p>
        </p:txBody>
      </p:sp>
      <p:sp>
        <p:nvSpPr>
          <p:cNvPr id="122" name="Google Shape;122;p15"/>
          <p:cNvSpPr/>
          <p:nvPr/>
        </p:nvSpPr>
        <p:spPr>
          <a:xfrm>
            <a:off x="396835" y="9310330"/>
            <a:ext cx="13836729" cy="18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850"/>
              <a:buFont typeface="Raleway"/>
              <a:buChar char="•"/>
            </a:pPr>
            <a:r>
              <a:rPr b="0" i="0" lang="en-US" sz="8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ItemImages (product photos)</a:t>
            </a:r>
            <a:endParaRPr b="0" i="0" sz="850" u="none" cap="none" strike="noStrike"/>
          </a:p>
        </p:txBody>
      </p:sp>
      <p:sp>
        <p:nvSpPr>
          <p:cNvPr id="123" name="Google Shape;123;p15"/>
          <p:cNvSpPr/>
          <p:nvPr/>
        </p:nvSpPr>
        <p:spPr>
          <a:xfrm>
            <a:off x="396835" y="9531429"/>
            <a:ext cx="13836729" cy="18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850"/>
              <a:buFont typeface="Raleway"/>
              <a:buChar char="•"/>
            </a:pPr>
            <a:r>
              <a:rPr b="0" i="0" lang="en-US" sz="8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Watchlist (saved items)</a:t>
            </a:r>
            <a:endParaRPr b="0" i="0" sz="850" u="none" cap="none" strike="noStrike"/>
          </a:p>
        </p:txBody>
      </p:sp>
      <p:sp>
        <p:nvSpPr>
          <p:cNvPr id="124" name="Google Shape;124;p15"/>
          <p:cNvSpPr/>
          <p:nvPr/>
        </p:nvSpPr>
        <p:spPr>
          <a:xfrm>
            <a:off x="396835" y="9752528"/>
            <a:ext cx="13836729" cy="18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850"/>
              <a:buFont typeface="Raleway"/>
              <a:buChar char="•"/>
            </a:pPr>
            <a:r>
              <a:rPr b="0" i="0" lang="en-US" sz="8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Notifications (system alerts)</a:t>
            </a:r>
            <a:endParaRPr b="0" i="0" sz="850" u="none" cap="none" strike="noStrike"/>
          </a:p>
        </p:txBody>
      </p:sp>
      <p:sp>
        <p:nvSpPr>
          <p:cNvPr id="125" name="Google Shape;125;p15"/>
          <p:cNvSpPr/>
          <p:nvPr/>
        </p:nvSpPr>
        <p:spPr>
          <a:xfrm>
            <a:off x="396835" y="9973628"/>
            <a:ext cx="13836729" cy="18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850"/>
              <a:buFont typeface="Raleway"/>
              <a:buChar char="•"/>
            </a:pPr>
            <a:r>
              <a:rPr b="0" i="0" lang="en-US" sz="8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Ratings (user feedback)</a:t>
            </a:r>
            <a:endParaRPr b="0" i="0" sz="850" u="none" cap="none" strike="noStrike"/>
          </a:p>
        </p:txBody>
      </p:sp>
      <p:sp>
        <p:nvSpPr>
          <p:cNvPr id="126" name="Google Shape;126;p15"/>
          <p:cNvSpPr/>
          <p:nvPr/>
        </p:nvSpPr>
        <p:spPr>
          <a:xfrm>
            <a:off x="396835" y="10194727"/>
            <a:ext cx="13836729" cy="18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850"/>
              <a:buFont typeface="Raleway"/>
              <a:buChar char="•"/>
            </a:pPr>
            <a:r>
              <a:rPr b="0" i="0" lang="en-US" sz="8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ContactMessages (support system)</a:t>
            </a:r>
            <a:endParaRPr b="0" i="0" sz="850" u="none" cap="none" strike="noStrike"/>
          </a:p>
        </p:txBody>
      </p:sp>
      <p:sp>
        <p:nvSpPr>
          <p:cNvPr id="127" name="Google Shape;127;p15"/>
          <p:cNvSpPr/>
          <p:nvPr/>
        </p:nvSpPr>
        <p:spPr>
          <a:xfrm>
            <a:off x="12815900" y="7736675"/>
            <a:ext cx="1814400" cy="492900"/>
          </a:xfrm>
          <a:prstGeom prst="rect">
            <a:avLst/>
          </a:prstGeom>
          <a:solidFill>
            <a:srgbClr val="1B1C1D"/>
          </a:solidFill>
          <a:ln cap="flat" cmpd="sng" w="9525">
            <a:solidFill>
              <a:srgbClr val="1B1C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5816325" y="0"/>
            <a:ext cx="877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Muhammad Sameer | Muhammad Shahneel |Muhammad Arham | Muhammad Abdullah | Muhammad Ibad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/>
          <p:nvPr/>
        </p:nvSpPr>
        <p:spPr>
          <a:xfrm>
            <a:off x="758071" y="769263"/>
            <a:ext cx="8848249" cy="676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05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4250"/>
              <a:buFont typeface="Prata"/>
              <a:buNone/>
            </a:pPr>
            <a:r>
              <a:rPr b="0" i="0" lang="en-US" sz="425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System Architecture: Admin Panel</a:t>
            </a:r>
            <a:endParaRPr b="0" i="0" sz="4250" u="none" cap="none" strike="noStrike"/>
          </a:p>
        </p:txBody>
      </p:sp>
      <p:sp>
        <p:nvSpPr>
          <p:cNvPr id="135" name="Google Shape;135;p16"/>
          <p:cNvSpPr/>
          <p:nvPr/>
        </p:nvSpPr>
        <p:spPr>
          <a:xfrm>
            <a:off x="758071" y="1987510"/>
            <a:ext cx="3536394" cy="338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2100"/>
              <a:buFont typeface="Prata"/>
              <a:buNone/>
            </a:pPr>
            <a:r>
              <a:rPr b="0" i="0" lang="en-US" sz="210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Dashboard &amp; Management</a:t>
            </a:r>
            <a:endParaRPr b="0" i="0" sz="2100" u="none" cap="none" strike="noStrike"/>
          </a:p>
        </p:txBody>
      </p:sp>
      <p:sp>
        <p:nvSpPr>
          <p:cNvPr id="136" name="Google Shape;136;p16"/>
          <p:cNvSpPr/>
          <p:nvPr/>
        </p:nvSpPr>
        <p:spPr>
          <a:xfrm>
            <a:off x="758071" y="2542461"/>
            <a:ext cx="6292929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00"/>
              <a:buFont typeface="Raleway"/>
              <a:buChar char="•"/>
            </a:pPr>
            <a:r>
              <a:rPr b="0" i="0" lang="en-US" sz="17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Index.cshtml - Main admin dashboard with statistics</a:t>
            </a:r>
            <a:endParaRPr b="0" i="0" sz="1700" u="none" cap="none" strike="noStrike"/>
          </a:p>
        </p:txBody>
      </p:sp>
      <p:sp>
        <p:nvSpPr>
          <p:cNvPr id="137" name="Google Shape;137;p16"/>
          <p:cNvSpPr/>
          <p:nvPr/>
        </p:nvSpPr>
        <p:spPr>
          <a:xfrm>
            <a:off x="758071" y="2964656"/>
            <a:ext cx="6292929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00"/>
              <a:buFont typeface="Raleway"/>
              <a:buChar char="•"/>
            </a:pPr>
            <a:r>
              <a:rPr b="0" i="0" lang="en-US" sz="17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Users.cshtml - User management and overview</a:t>
            </a:r>
            <a:endParaRPr b="0" i="0" sz="1700" u="none" cap="none" strike="noStrike"/>
          </a:p>
        </p:txBody>
      </p:sp>
      <p:sp>
        <p:nvSpPr>
          <p:cNvPr id="138" name="Google Shape;138;p16"/>
          <p:cNvSpPr/>
          <p:nvPr/>
        </p:nvSpPr>
        <p:spPr>
          <a:xfrm>
            <a:off x="758071" y="3386852"/>
            <a:ext cx="6292929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00"/>
              <a:buFont typeface="Raleway"/>
              <a:buChar char="•"/>
            </a:pPr>
            <a:r>
              <a:rPr b="0" i="0" lang="en-US" sz="17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UserDetails.cshtml - Individual user profile management</a:t>
            </a:r>
            <a:endParaRPr b="0" i="0" sz="1700" u="none" cap="none" strike="noStrike"/>
          </a:p>
        </p:txBody>
      </p:sp>
      <p:sp>
        <p:nvSpPr>
          <p:cNvPr id="139" name="Google Shape;139;p16"/>
          <p:cNvSpPr/>
          <p:nvPr/>
        </p:nvSpPr>
        <p:spPr>
          <a:xfrm>
            <a:off x="758071" y="3809047"/>
            <a:ext cx="6292929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00"/>
              <a:buFont typeface="Raleway"/>
              <a:buChar char="•"/>
            </a:pPr>
            <a:r>
              <a:rPr b="0" i="0" lang="en-US" sz="17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ViewUserProfile.cshtml - Detailed user profile view</a:t>
            </a:r>
            <a:endParaRPr b="0" i="0" sz="1700" u="none" cap="none" strike="noStrike"/>
          </a:p>
        </p:txBody>
      </p:sp>
      <p:sp>
        <p:nvSpPr>
          <p:cNvPr id="140" name="Google Shape;140;p16"/>
          <p:cNvSpPr/>
          <p:nvPr/>
        </p:nvSpPr>
        <p:spPr>
          <a:xfrm>
            <a:off x="758071" y="4372094"/>
            <a:ext cx="2707481" cy="338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2100"/>
              <a:buFont typeface="Prata"/>
              <a:buNone/>
            </a:pPr>
            <a:r>
              <a:rPr b="0" i="0" lang="en-US" sz="210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Item Management</a:t>
            </a:r>
            <a:endParaRPr b="0" i="0" sz="2100" u="none" cap="none" strike="noStrike"/>
          </a:p>
        </p:txBody>
      </p:sp>
      <p:sp>
        <p:nvSpPr>
          <p:cNvPr id="141" name="Google Shape;141;p16"/>
          <p:cNvSpPr/>
          <p:nvPr/>
        </p:nvSpPr>
        <p:spPr>
          <a:xfrm>
            <a:off x="758071" y="4927044"/>
            <a:ext cx="6292929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00"/>
              <a:buFont typeface="Raleway"/>
              <a:buChar char="•"/>
            </a:pPr>
            <a:r>
              <a:rPr b="0" i="0" lang="en-US" sz="17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Items.cshtml - All items listing with filters</a:t>
            </a:r>
            <a:endParaRPr b="0" i="0" sz="1700" u="none" cap="none" strike="noStrike"/>
          </a:p>
        </p:txBody>
      </p:sp>
      <p:sp>
        <p:nvSpPr>
          <p:cNvPr id="142" name="Google Shape;142;p16"/>
          <p:cNvSpPr/>
          <p:nvPr/>
        </p:nvSpPr>
        <p:spPr>
          <a:xfrm>
            <a:off x="758071" y="5349240"/>
            <a:ext cx="6292929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00"/>
              <a:buFont typeface="Raleway"/>
              <a:buChar char="•"/>
            </a:pPr>
            <a:r>
              <a:rPr b="0" i="0" lang="en-US" sz="17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ItemDetails.cshtml - Detailed item information</a:t>
            </a:r>
            <a:endParaRPr b="0" i="0" sz="1700" u="none" cap="none" strike="noStrike"/>
          </a:p>
        </p:txBody>
      </p:sp>
      <p:sp>
        <p:nvSpPr>
          <p:cNvPr id="143" name="Google Shape;143;p16"/>
          <p:cNvSpPr/>
          <p:nvPr/>
        </p:nvSpPr>
        <p:spPr>
          <a:xfrm>
            <a:off x="758071" y="5771436"/>
            <a:ext cx="6292929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00"/>
              <a:buFont typeface="Raleway"/>
              <a:buChar char="•"/>
            </a:pPr>
            <a:r>
              <a:rPr b="0" i="0" lang="en-US" sz="17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CreateItem.cshtml - Create new auction items</a:t>
            </a:r>
            <a:endParaRPr b="0" i="0" sz="1700" u="none" cap="none" strike="noStrike"/>
          </a:p>
        </p:txBody>
      </p:sp>
      <p:sp>
        <p:nvSpPr>
          <p:cNvPr id="144" name="Google Shape;144;p16"/>
          <p:cNvSpPr/>
          <p:nvPr/>
        </p:nvSpPr>
        <p:spPr>
          <a:xfrm>
            <a:off x="758071" y="6193631"/>
            <a:ext cx="6292929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00"/>
              <a:buFont typeface="Raleway"/>
              <a:buChar char="•"/>
            </a:pPr>
            <a:r>
              <a:rPr b="0" i="0" lang="en-US" sz="17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EditItem.cshtml - Modify existing items</a:t>
            </a:r>
            <a:endParaRPr b="0" i="0" sz="1700" u="none" cap="none" strike="noStrike"/>
          </a:p>
        </p:txBody>
      </p:sp>
      <p:sp>
        <p:nvSpPr>
          <p:cNvPr id="145" name="Google Shape;145;p16"/>
          <p:cNvSpPr/>
          <p:nvPr/>
        </p:nvSpPr>
        <p:spPr>
          <a:xfrm>
            <a:off x="758071" y="6615827"/>
            <a:ext cx="6292929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00"/>
              <a:buFont typeface="Raleway"/>
              <a:buChar char="•"/>
            </a:pPr>
            <a:r>
              <a:rPr b="0" i="0" lang="en-US" sz="17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DeleteItem.cshtml - Remove items from system</a:t>
            </a:r>
            <a:endParaRPr b="0" i="0" sz="1700" u="none" cap="none" strike="noStrike"/>
          </a:p>
        </p:txBody>
      </p:sp>
      <p:sp>
        <p:nvSpPr>
          <p:cNvPr id="146" name="Google Shape;146;p16"/>
          <p:cNvSpPr/>
          <p:nvPr/>
        </p:nvSpPr>
        <p:spPr>
          <a:xfrm>
            <a:off x="758071" y="7038022"/>
            <a:ext cx="6292929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00"/>
              <a:buFont typeface="Raleway"/>
              <a:buChar char="•"/>
            </a:pPr>
            <a:r>
              <a:rPr b="0" i="0" lang="en-US" sz="17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PendingApprovals.cshtml - Review items awaiting approval</a:t>
            </a:r>
            <a:endParaRPr b="0" i="0" sz="1700" u="none" cap="none" strike="noStrike"/>
          </a:p>
        </p:txBody>
      </p:sp>
      <p:sp>
        <p:nvSpPr>
          <p:cNvPr id="147" name="Google Shape;147;p16"/>
          <p:cNvSpPr/>
          <p:nvPr/>
        </p:nvSpPr>
        <p:spPr>
          <a:xfrm>
            <a:off x="7587020" y="1987510"/>
            <a:ext cx="2947511" cy="338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2100"/>
              <a:buFont typeface="Prata"/>
              <a:buNone/>
            </a:pPr>
            <a:r>
              <a:rPr b="0" i="0" lang="en-US" sz="210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Category Management</a:t>
            </a:r>
            <a:endParaRPr b="0" i="0" sz="2100" u="none" cap="none" strike="noStrike"/>
          </a:p>
        </p:txBody>
      </p:sp>
      <p:sp>
        <p:nvSpPr>
          <p:cNvPr id="148" name="Google Shape;148;p16"/>
          <p:cNvSpPr/>
          <p:nvPr/>
        </p:nvSpPr>
        <p:spPr>
          <a:xfrm>
            <a:off x="7587020" y="2542461"/>
            <a:ext cx="6292929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00"/>
              <a:buFont typeface="Raleway"/>
              <a:buChar char="•"/>
            </a:pPr>
            <a:r>
              <a:rPr b="0" i="0" lang="en-US" sz="17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Categories.cshtml - Category listing and management</a:t>
            </a:r>
            <a:endParaRPr b="0" i="0" sz="1700" u="none" cap="none" strike="noStrike"/>
          </a:p>
        </p:txBody>
      </p:sp>
      <p:sp>
        <p:nvSpPr>
          <p:cNvPr id="149" name="Google Shape;149;p16"/>
          <p:cNvSpPr/>
          <p:nvPr/>
        </p:nvSpPr>
        <p:spPr>
          <a:xfrm>
            <a:off x="7587020" y="2964656"/>
            <a:ext cx="6292929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00"/>
              <a:buFont typeface="Raleway"/>
              <a:buChar char="•"/>
            </a:pPr>
            <a:r>
              <a:rPr b="0" i="0" lang="en-US" sz="17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CategoryDetails.cshtml - Individual category information</a:t>
            </a:r>
            <a:endParaRPr b="0" i="0" sz="1700" u="none" cap="none" strike="noStrike"/>
          </a:p>
        </p:txBody>
      </p:sp>
      <p:sp>
        <p:nvSpPr>
          <p:cNvPr id="150" name="Google Shape;150;p16"/>
          <p:cNvSpPr/>
          <p:nvPr/>
        </p:nvSpPr>
        <p:spPr>
          <a:xfrm>
            <a:off x="7587020" y="3386852"/>
            <a:ext cx="6292929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00"/>
              <a:buFont typeface="Raleway"/>
              <a:buChar char="•"/>
            </a:pPr>
            <a:r>
              <a:rPr b="0" i="0" lang="en-US" sz="17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CreateCategory.cshtml - Add new categories</a:t>
            </a:r>
            <a:endParaRPr b="0" i="0" sz="1700" u="none" cap="none" strike="noStrike"/>
          </a:p>
        </p:txBody>
      </p:sp>
      <p:sp>
        <p:nvSpPr>
          <p:cNvPr id="151" name="Google Shape;151;p16"/>
          <p:cNvSpPr/>
          <p:nvPr/>
        </p:nvSpPr>
        <p:spPr>
          <a:xfrm>
            <a:off x="7587020" y="3809047"/>
            <a:ext cx="6292929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00"/>
              <a:buFont typeface="Raleway"/>
              <a:buChar char="•"/>
            </a:pPr>
            <a:r>
              <a:rPr b="0" i="0" lang="en-US" sz="17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EditCategory.cshtml - Modify existing categories</a:t>
            </a:r>
            <a:endParaRPr b="0" i="0" sz="1700" u="none" cap="none" strike="noStrike"/>
          </a:p>
        </p:txBody>
      </p:sp>
      <p:sp>
        <p:nvSpPr>
          <p:cNvPr id="152" name="Google Shape;152;p16"/>
          <p:cNvSpPr/>
          <p:nvPr/>
        </p:nvSpPr>
        <p:spPr>
          <a:xfrm>
            <a:off x="7587020" y="4231243"/>
            <a:ext cx="6292929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00"/>
              <a:buFont typeface="Raleway"/>
              <a:buChar char="•"/>
            </a:pPr>
            <a:r>
              <a:rPr b="0" i="0" lang="en-US" sz="17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DeleteCategory.cshtml - Remove categories</a:t>
            </a:r>
            <a:endParaRPr b="0" i="0" sz="1700" u="none" cap="none" strike="noStrike"/>
          </a:p>
        </p:txBody>
      </p:sp>
      <p:sp>
        <p:nvSpPr>
          <p:cNvPr id="153" name="Google Shape;153;p16"/>
          <p:cNvSpPr/>
          <p:nvPr/>
        </p:nvSpPr>
        <p:spPr>
          <a:xfrm>
            <a:off x="7587020" y="4653439"/>
            <a:ext cx="6292929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00"/>
              <a:buFont typeface="Raleway"/>
              <a:buChar char="•"/>
            </a:pPr>
            <a:r>
              <a:rPr b="0" i="0" lang="en-US" sz="17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MergeCategories.cshtml - Combine similar categories</a:t>
            </a:r>
            <a:endParaRPr b="0" i="0" sz="1700" u="none" cap="none" strike="noStrike"/>
          </a:p>
        </p:txBody>
      </p:sp>
      <p:sp>
        <p:nvSpPr>
          <p:cNvPr id="154" name="Google Shape;154;p16"/>
          <p:cNvSpPr/>
          <p:nvPr/>
        </p:nvSpPr>
        <p:spPr>
          <a:xfrm>
            <a:off x="7587020" y="5075634"/>
            <a:ext cx="6292929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00"/>
              <a:buFont typeface="Raleway"/>
              <a:buChar char="•"/>
            </a:pPr>
            <a:r>
              <a:rPr b="0" i="0" lang="en-US" sz="17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CategoryHierarchy.cshtml - Category structure view</a:t>
            </a:r>
            <a:endParaRPr b="0" i="0" sz="1700" u="none" cap="none" strike="noStrike"/>
          </a:p>
        </p:txBody>
      </p:sp>
      <p:sp>
        <p:nvSpPr>
          <p:cNvPr id="155" name="Google Shape;155;p16"/>
          <p:cNvSpPr/>
          <p:nvPr/>
        </p:nvSpPr>
        <p:spPr>
          <a:xfrm>
            <a:off x="7587020" y="5638681"/>
            <a:ext cx="3903107" cy="338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2100"/>
              <a:buFont typeface="Prata"/>
              <a:buNone/>
            </a:pPr>
            <a:r>
              <a:rPr b="0" i="0" lang="en-US" sz="210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Communication &amp; Monitoring</a:t>
            </a:r>
            <a:endParaRPr b="0" i="0" sz="2100" u="none" cap="none" strike="noStrike"/>
          </a:p>
        </p:txBody>
      </p:sp>
      <p:sp>
        <p:nvSpPr>
          <p:cNvPr id="156" name="Google Shape;156;p16"/>
          <p:cNvSpPr/>
          <p:nvPr/>
        </p:nvSpPr>
        <p:spPr>
          <a:xfrm>
            <a:off x="7587020" y="6193631"/>
            <a:ext cx="6292929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00"/>
              <a:buFont typeface="Raleway"/>
              <a:buChar char="•"/>
            </a:pPr>
            <a:r>
              <a:rPr b="0" i="0" lang="en-US" sz="17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Messages.cshtml - Contact messages from users</a:t>
            </a:r>
            <a:endParaRPr b="0" i="0" sz="1700" u="none" cap="none" strike="noStrike"/>
          </a:p>
        </p:txBody>
      </p:sp>
      <p:sp>
        <p:nvSpPr>
          <p:cNvPr id="157" name="Google Shape;157;p16"/>
          <p:cNvSpPr/>
          <p:nvPr/>
        </p:nvSpPr>
        <p:spPr>
          <a:xfrm>
            <a:off x="7587020" y="6615827"/>
            <a:ext cx="6292929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00"/>
              <a:buFont typeface="Raleway"/>
              <a:buChar char="•"/>
            </a:pPr>
            <a:r>
              <a:rPr b="0" i="0" lang="en-US" sz="17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MessageDetails.cshtml - Individual message view</a:t>
            </a:r>
            <a:endParaRPr b="0" i="0" sz="1700" u="none" cap="none" strike="noStrike"/>
          </a:p>
        </p:txBody>
      </p:sp>
      <p:sp>
        <p:nvSpPr>
          <p:cNvPr id="158" name="Google Shape;158;p16"/>
          <p:cNvSpPr/>
          <p:nvPr/>
        </p:nvSpPr>
        <p:spPr>
          <a:xfrm>
            <a:off x="7587020" y="7038022"/>
            <a:ext cx="6292929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00"/>
              <a:buFont typeface="Raleway"/>
              <a:buChar char="•"/>
            </a:pPr>
            <a:r>
              <a:rPr b="0" i="0" lang="en-US" sz="17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Bids.cshtml - Monitor all bidding activity</a:t>
            </a:r>
            <a:endParaRPr b="0" i="0" sz="1700" u="none" cap="none" strike="noStrike"/>
          </a:p>
        </p:txBody>
      </p:sp>
      <p:sp>
        <p:nvSpPr>
          <p:cNvPr id="159" name="Google Shape;159;p16"/>
          <p:cNvSpPr/>
          <p:nvPr/>
        </p:nvSpPr>
        <p:spPr>
          <a:xfrm>
            <a:off x="12815900" y="7736675"/>
            <a:ext cx="1814400" cy="492900"/>
          </a:xfrm>
          <a:prstGeom prst="rect">
            <a:avLst/>
          </a:prstGeom>
          <a:solidFill>
            <a:srgbClr val="1B1C1D"/>
          </a:solidFill>
          <a:ln cap="flat" cmpd="sng" w="9525">
            <a:solidFill>
              <a:srgbClr val="1B1C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5972100" y="0"/>
            <a:ext cx="865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Muhammad Sameer | Muhammad Shahneel |Muhammad Arham | Muhammad Abdullah | Muhammad Ibad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/>
          <p:nvPr/>
        </p:nvSpPr>
        <p:spPr>
          <a:xfrm>
            <a:off x="724019" y="847606"/>
            <a:ext cx="12062698" cy="646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4050"/>
              <a:buFont typeface="Prata"/>
              <a:buNone/>
            </a:pPr>
            <a:r>
              <a:rPr b="0" i="0" lang="en-US" sz="405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System Architecture: Seller &amp; User/Buyer Panels</a:t>
            </a:r>
            <a:endParaRPr b="0" i="0" sz="4050" u="none" cap="none" strike="noStrike"/>
          </a:p>
        </p:txBody>
      </p:sp>
      <p:sp>
        <p:nvSpPr>
          <p:cNvPr id="167" name="Google Shape;167;p17"/>
          <p:cNvSpPr/>
          <p:nvPr/>
        </p:nvSpPr>
        <p:spPr>
          <a:xfrm>
            <a:off x="724019" y="2011204"/>
            <a:ext cx="2668429" cy="323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2000"/>
              <a:buFont typeface="Prata"/>
              <a:buNone/>
            </a:pPr>
            <a:r>
              <a:rPr b="0" i="0" lang="en-US" sz="200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Seller Panel (5 Pages)</a:t>
            </a:r>
            <a:endParaRPr b="0" i="0" sz="2000" u="none" cap="none" strike="noStrike"/>
          </a:p>
        </p:txBody>
      </p:sp>
      <p:sp>
        <p:nvSpPr>
          <p:cNvPr id="168" name="Google Shape;168;p17"/>
          <p:cNvSpPr/>
          <p:nvPr/>
        </p:nvSpPr>
        <p:spPr>
          <a:xfrm>
            <a:off x="724019" y="2541270"/>
            <a:ext cx="6338887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600"/>
              <a:buFont typeface="Raleway"/>
              <a:buChar char="•"/>
            </a:pPr>
            <a:r>
              <a:rPr b="0" i="0" lang="en-US" sz="16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Dashboard.cshtml - Seller overview with earnings, active listings, recent bids</a:t>
            </a:r>
            <a:endParaRPr b="0" i="0" sz="1600" u="none" cap="none" strike="noStrike"/>
          </a:p>
        </p:txBody>
      </p:sp>
      <p:sp>
        <p:nvSpPr>
          <p:cNvPr id="169" name="Google Shape;169;p17"/>
          <p:cNvSpPr/>
          <p:nvPr/>
        </p:nvSpPr>
        <p:spPr>
          <a:xfrm>
            <a:off x="724019" y="3275648"/>
            <a:ext cx="6338887" cy="330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600"/>
              <a:buFont typeface="Raleway"/>
              <a:buChar char="•"/>
            </a:pPr>
            <a:r>
              <a:rPr b="0" i="0" lang="en-US" sz="16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Create.cshtml - List new items for auction</a:t>
            </a:r>
            <a:endParaRPr b="0" i="0" sz="1600" u="none" cap="none" strike="noStrike"/>
          </a:p>
        </p:txBody>
      </p:sp>
      <p:sp>
        <p:nvSpPr>
          <p:cNvPr id="170" name="Google Shape;170;p17"/>
          <p:cNvSpPr/>
          <p:nvPr/>
        </p:nvSpPr>
        <p:spPr>
          <a:xfrm>
            <a:off x="724019" y="3679031"/>
            <a:ext cx="6338887" cy="330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600"/>
              <a:buFont typeface="Raleway"/>
              <a:buChar char="•"/>
            </a:pPr>
            <a:r>
              <a:rPr b="0" i="0" lang="en-US" sz="16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MyItems.cshtml - Manage all seller's listings</a:t>
            </a:r>
            <a:endParaRPr b="0" i="0" sz="1600" u="none" cap="none" strike="noStrike"/>
          </a:p>
        </p:txBody>
      </p:sp>
      <p:sp>
        <p:nvSpPr>
          <p:cNvPr id="171" name="Google Shape;171;p17"/>
          <p:cNvSpPr/>
          <p:nvPr/>
        </p:nvSpPr>
        <p:spPr>
          <a:xfrm>
            <a:off x="724019" y="4082415"/>
            <a:ext cx="6338887" cy="330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600"/>
              <a:buFont typeface="Raleway"/>
              <a:buChar char="•"/>
            </a:pPr>
            <a:r>
              <a:rPr b="0" i="0" lang="en-US" sz="16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Edit.cshtml - Modify pending auction items</a:t>
            </a:r>
            <a:endParaRPr b="0" i="0" sz="1600" u="none" cap="none" strike="noStrike"/>
          </a:p>
        </p:txBody>
      </p:sp>
      <p:sp>
        <p:nvSpPr>
          <p:cNvPr id="172" name="Google Shape;172;p17"/>
          <p:cNvSpPr/>
          <p:nvPr/>
        </p:nvSpPr>
        <p:spPr>
          <a:xfrm>
            <a:off x="724019" y="4485799"/>
            <a:ext cx="6338887" cy="330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600"/>
              <a:buFont typeface="Raleway"/>
              <a:buChar char="•"/>
            </a:pPr>
            <a:r>
              <a:rPr b="0" i="0" lang="en-US" sz="16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Analytics.cshtml - Comprehensive sales analytics and reports</a:t>
            </a:r>
            <a:endParaRPr b="0" i="0" sz="1600" u="none" cap="none" strike="noStrike"/>
          </a:p>
        </p:txBody>
      </p:sp>
      <p:sp>
        <p:nvSpPr>
          <p:cNvPr id="173" name="Google Shape;173;p17"/>
          <p:cNvSpPr/>
          <p:nvPr/>
        </p:nvSpPr>
        <p:spPr>
          <a:xfrm>
            <a:off x="7575113" y="2011204"/>
            <a:ext cx="3484721" cy="323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2000"/>
              <a:buFont typeface="Prata"/>
              <a:buNone/>
            </a:pPr>
            <a:r>
              <a:rPr b="0" i="0" lang="en-US" sz="200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User/Buyer Panel (12 Pages)</a:t>
            </a:r>
            <a:endParaRPr b="0" i="0" sz="2000" u="none" cap="none" strike="noStrike"/>
          </a:p>
        </p:txBody>
      </p:sp>
      <p:sp>
        <p:nvSpPr>
          <p:cNvPr id="174" name="Google Shape;174;p17"/>
          <p:cNvSpPr/>
          <p:nvPr/>
        </p:nvSpPr>
        <p:spPr>
          <a:xfrm>
            <a:off x="7575113" y="2541270"/>
            <a:ext cx="6338887" cy="330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600"/>
              <a:buFont typeface="Raleway"/>
              <a:buChar char="•"/>
            </a:pPr>
            <a:r>
              <a:rPr b="0" i="0" lang="en-US" sz="16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Login.cshtml - User authentication</a:t>
            </a:r>
            <a:endParaRPr b="0" i="0" sz="1600" u="none" cap="none" strike="noStrike"/>
          </a:p>
        </p:txBody>
      </p:sp>
      <p:sp>
        <p:nvSpPr>
          <p:cNvPr id="175" name="Google Shape;175;p17"/>
          <p:cNvSpPr/>
          <p:nvPr/>
        </p:nvSpPr>
        <p:spPr>
          <a:xfrm>
            <a:off x="7575113" y="2944654"/>
            <a:ext cx="6338887" cy="330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600"/>
              <a:buFont typeface="Raleway"/>
              <a:buChar char="•"/>
            </a:pPr>
            <a:r>
              <a:rPr b="0" i="0" lang="en-US" sz="16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Register.cshtml - New user registration</a:t>
            </a:r>
            <a:endParaRPr b="0" i="0" sz="1600" u="none" cap="none" strike="noStrike"/>
          </a:p>
        </p:txBody>
      </p:sp>
      <p:sp>
        <p:nvSpPr>
          <p:cNvPr id="176" name="Google Shape;176;p17"/>
          <p:cNvSpPr/>
          <p:nvPr/>
        </p:nvSpPr>
        <p:spPr>
          <a:xfrm>
            <a:off x="7575113" y="3348038"/>
            <a:ext cx="6338887" cy="330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600"/>
              <a:buFont typeface="Raleway"/>
              <a:buChar char="•"/>
            </a:pPr>
            <a:r>
              <a:rPr b="0" i="0" lang="en-US" sz="16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Profile.cshtml - User profile display</a:t>
            </a:r>
            <a:endParaRPr b="0" i="0" sz="1600" u="none" cap="none" strike="noStrike"/>
          </a:p>
        </p:txBody>
      </p:sp>
      <p:sp>
        <p:nvSpPr>
          <p:cNvPr id="177" name="Google Shape;177;p17"/>
          <p:cNvSpPr/>
          <p:nvPr/>
        </p:nvSpPr>
        <p:spPr>
          <a:xfrm>
            <a:off x="7575113" y="3751421"/>
            <a:ext cx="6338887" cy="330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600"/>
              <a:buFont typeface="Raleway"/>
              <a:buChar char="•"/>
            </a:pPr>
            <a:r>
              <a:rPr b="0" i="0" lang="en-US" sz="16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EditProfile.cshtml - Modify user information</a:t>
            </a:r>
            <a:endParaRPr b="0" i="0" sz="1600" u="none" cap="none" strike="noStrike"/>
          </a:p>
        </p:txBody>
      </p:sp>
      <p:sp>
        <p:nvSpPr>
          <p:cNvPr id="178" name="Google Shape;178;p17"/>
          <p:cNvSpPr/>
          <p:nvPr/>
        </p:nvSpPr>
        <p:spPr>
          <a:xfrm>
            <a:off x="7575113" y="4154805"/>
            <a:ext cx="6338887" cy="330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600"/>
              <a:buFont typeface="Raleway"/>
              <a:buChar char="•"/>
            </a:pPr>
            <a:r>
              <a:rPr b="0" i="0" lang="en-US" sz="16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ChangePassword.cshtml - Security management</a:t>
            </a:r>
            <a:endParaRPr b="0" i="0" sz="1600" u="none" cap="none" strike="noStrike"/>
          </a:p>
        </p:txBody>
      </p:sp>
      <p:sp>
        <p:nvSpPr>
          <p:cNvPr id="179" name="Google Shape;179;p17"/>
          <p:cNvSpPr/>
          <p:nvPr/>
        </p:nvSpPr>
        <p:spPr>
          <a:xfrm>
            <a:off x="7575113" y="4558189"/>
            <a:ext cx="6338887" cy="330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600"/>
              <a:buFont typeface="Raleway"/>
              <a:buChar char="•"/>
            </a:pPr>
            <a:r>
              <a:rPr b="0" i="0" lang="en-US" sz="16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AccessDenied.cshtml - Authorization error page</a:t>
            </a:r>
            <a:endParaRPr b="0" i="0" sz="1600" u="none" cap="none" strike="noStrike"/>
          </a:p>
        </p:txBody>
      </p:sp>
      <p:sp>
        <p:nvSpPr>
          <p:cNvPr id="180" name="Google Shape;180;p17"/>
          <p:cNvSpPr/>
          <p:nvPr/>
        </p:nvSpPr>
        <p:spPr>
          <a:xfrm>
            <a:off x="7575113" y="4961573"/>
            <a:ext cx="6338887" cy="330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600"/>
              <a:buFont typeface="Raleway"/>
              <a:buChar char="•"/>
            </a:pPr>
            <a:r>
              <a:rPr b="0" i="0" lang="en-US" sz="16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MyBids.cshtml - User's bidding history</a:t>
            </a:r>
            <a:endParaRPr b="0" i="0" sz="1600" u="none" cap="none" strike="noStrike"/>
          </a:p>
        </p:txBody>
      </p:sp>
      <p:sp>
        <p:nvSpPr>
          <p:cNvPr id="181" name="Google Shape;181;p17"/>
          <p:cNvSpPr/>
          <p:nvPr/>
        </p:nvSpPr>
        <p:spPr>
          <a:xfrm>
            <a:off x="7575113" y="5364956"/>
            <a:ext cx="6338887" cy="330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600"/>
              <a:buFont typeface="Raleway"/>
              <a:buChar char="•"/>
            </a:pPr>
            <a:r>
              <a:rPr b="0" i="0" lang="en-US" sz="16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Watchlist.cshtml - Saved/favorite items</a:t>
            </a:r>
            <a:endParaRPr b="0" i="0" sz="1600" u="none" cap="none" strike="noStrike"/>
          </a:p>
        </p:txBody>
      </p:sp>
      <p:sp>
        <p:nvSpPr>
          <p:cNvPr id="182" name="Google Shape;182;p17"/>
          <p:cNvSpPr/>
          <p:nvPr/>
        </p:nvSpPr>
        <p:spPr>
          <a:xfrm>
            <a:off x="7575113" y="5768340"/>
            <a:ext cx="6338887" cy="330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600"/>
              <a:buFont typeface="Raleway"/>
              <a:buChar char="•"/>
            </a:pPr>
            <a:r>
              <a:rPr b="0" i="0" lang="en-US" sz="16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MyMessages.cshtml - Communication with support</a:t>
            </a:r>
            <a:endParaRPr b="0" i="0" sz="1600" u="none" cap="none" strike="noStrike"/>
          </a:p>
        </p:txBody>
      </p:sp>
      <p:sp>
        <p:nvSpPr>
          <p:cNvPr id="183" name="Google Shape;183;p17"/>
          <p:cNvSpPr/>
          <p:nvPr/>
        </p:nvSpPr>
        <p:spPr>
          <a:xfrm>
            <a:off x="7575113" y="6171724"/>
            <a:ext cx="6338887" cy="330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600"/>
              <a:buFont typeface="Raleway"/>
              <a:buChar char="•"/>
            </a:pPr>
            <a:r>
              <a:rPr b="0" i="0" lang="en-US" sz="16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Dashboard.cshtml - Buyer overview with active bids, watchlist</a:t>
            </a:r>
            <a:endParaRPr b="0" i="0" sz="1600" u="none" cap="none" strike="noStrike"/>
          </a:p>
        </p:txBody>
      </p:sp>
      <p:sp>
        <p:nvSpPr>
          <p:cNvPr id="184" name="Google Shape;184;p17"/>
          <p:cNvSpPr/>
          <p:nvPr/>
        </p:nvSpPr>
        <p:spPr>
          <a:xfrm>
            <a:off x="7575113" y="6575108"/>
            <a:ext cx="6338887" cy="330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600"/>
              <a:buFont typeface="Raleway"/>
              <a:buChar char="•"/>
            </a:pPr>
            <a:r>
              <a:rPr b="0" i="0" lang="en-US" sz="16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Browse.cshtml - Browse available auctions</a:t>
            </a:r>
            <a:endParaRPr b="0" i="0" sz="1600" u="none" cap="none" strike="noStrike"/>
          </a:p>
        </p:txBody>
      </p:sp>
      <p:sp>
        <p:nvSpPr>
          <p:cNvPr id="185" name="Google Shape;185;p17"/>
          <p:cNvSpPr/>
          <p:nvPr/>
        </p:nvSpPr>
        <p:spPr>
          <a:xfrm>
            <a:off x="7575113" y="6978491"/>
            <a:ext cx="6338887" cy="330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600"/>
              <a:buFont typeface="Raleway"/>
              <a:buChar char="•"/>
            </a:pPr>
            <a:r>
              <a:rPr b="0" i="0" lang="en-US" sz="16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ItemDetails.cshtml - Detailed item view with bidding</a:t>
            </a:r>
            <a:endParaRPr b="0" i="0" sz="1600" u="none" cap="none" strike="noStrike"/>
          </a:p>
        </p:txBody>
      </p:sp>
      <p:sp>
        <p:nvSpPr>
          <p:cNvPr id="186" name="Google Shape;186;p17"/>
          <p:cNvSpPr/>
          <p:nvPr/>
        </p:nvSpPr>
        <p:spPr>
          <a:xfrm>
            <a:off x="12815900" y="7736675"/>
            <a:ext cx="1814400" cy="492900"/>
          </a:xfrm>
          <a:prstGeom prst="rect">
            <a:avLst/>
          </a:prstGeom>
          <a:solidFill>
            <a:srgbClr val="1B1C1D"/>
          </a:solidFill>
          <a:ln cap="flat" cmpd="sng" w="9525">
            <a:solidFill>
              <a:srgbClr val="1B1C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17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8850" y="4984912"/>
            <a:ext cx="5709299" cy="270462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7"/>
          <p:cNvSpPr txBox="1"/>
          <p:nvPr/>
        </p:nvSpPr>
        <p:spPr>
          <a:xfrm>
            <a:off x="6015000" y="51750"/>
            <a:ext cx="861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Muhammad Sameer | Muhammad Shahneel |Muhammad Arham | Muhammad Abdullah | Muhammad Ibad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/>
          <p:nvPr/>
        </p:nvSpPr>
        <p:spPr>
          <a:xfrm>
            <a:off x="719257" y="1213842"/>
            <a:ext cx="12952333" cy="642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25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4000"/>
              <a:buFont typeface="Prata"/>
              <a:buNone/>
            </a:pPr>
            <a:r>
              <a:rPr b="0" i="0" lang="en-US" sz="400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System Architecture: Auction, Search &amp; Public Pages</a:t>
            </a:r>
            <a:endParaRPr b="0" i="0" sz="4000" u="none" cap="none" strike="noStrike"/>
          </a:p>
        </p:txBody>
      </p:sp>
      <p:sp>
        <p:nvSpPr>
          <p:cNvPr id="195" name="Google Shape;195;p18"/>
          <p:cNvSpPr/>
          <p:nvPr/>
        </p:nvSpPr>
        <p:spPr>
          <a:xfrm>
            <a:off x="719257" y="2369701"/>
            <a:ext cx="3055144" cy="321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2000"/>
              <a:buFont typeface="Prata"/>
              <a:buNone/>
            </a:pPr>
            <a:r>
              <a:rPr b="0" i="0" lang="en-US" sz="200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Auction System (7 Pages)</a:t>
            </a:r>
            <a:endParaRPr b="0" i="0" sz="2000" u="none" cap="none" strike="noStrike"/>
          </a:p>
        </p:txBody>
      </p:sp>
      <p:sp>
        <p:nvSpPr>
          <p:cNvPr id="196" name="Google Shape;196;p18"/>
          <p:cNvSpPr/>
          <p:nvPr/>
        </p:nvSpPr>
        <p:spPr>
          <a:xfrm>
            <a:off x="719257" y="2896314"/>
            <a:ext cx="4063960" cy="65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600"/>
              <a:buFont typeface="Raleway"/>
              <a:buChar char="•"/>
            </a:pPr>
            <a:r>
              <a:rPr b="0" i="0" lang="en-US" sz="16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Details.cshtml - Main auction page with real-time bidding</a:t>
            </a:r>
            <a:endParaRPr b="0" i="0" sz="1600" u="none" cap="none" strike="noStrike"/>
          </a:p>
        </p:txBody>
      </p:sp>
      <p:sp>
        <p:nvSpPr>
          <p:cNvPr id="197" name="Google Shape;197;p18"/>
          <p:cNvSpPr/>
          <p:nvPr/>
        </p:nvSpPr>
        <p:spPr>
          <a:xfrm>
            <a:off x="719257" y="3625691"/>
            <a:ext cx="4063960" cy="65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600"/>
              <a:buFont typeface="Raleway"/>
              <a:buChar char="•"/>
            </a:pPr>
            <a:r>
              <a:rPr b="0" i="0" lang="en-US" sz="16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Active.cshtml - Currently active auctions</a:t>
            </a:r>
            <a:endParaRPr b="0" i="0" sz="1600" u="none" cap="none" strike="noStrike"/>
          </a:p>
        </p:txBody>
      </p:sp>
      <p:sp>
        <p:nvSpPr>
          <p:cNvPr id="198" name="Google Shape;198;p18"/>
          <p:cNvSpPr/>
          <p:nvPr/>
        </p:nvSpPr>
        <p:spPr>
          <a:xfrm>
            <a:off x="719257" y="4355068"/>
            <a:ext cx="4063960" cy="328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600"/>
              <a:buFont typeface="Raleway"/>
              <a:buChar char="•"/>
            </a:pPr>
            <a:r>
              <a:rPr b="0" i="0" lang="en-US" sz="16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Ending.cshtml - Auctions ending soon</a:t>
            </a:r>
            <a:endParaRPr b="0" i="0" sz="1600" u="none" cap="none" strike="noStrike"/>
          </a:p>
        </p:txBody>
      </p:sp>
      <p:sp>
        <p:nvSpPr>
          <p:cNvPr id="199" name="Google Shape;199;p18"/>
          <p:cNvSpPr/>
          <p:nvPr/>
        </p:nvSpPr>
        <p:spPr>
          <a:xfrm>
            <a:off x="719257" y="4755713"/>
            <a:ext cx="4063960" cy="328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600"/>
              <a:buFont typeface="Raleway"/>
              <a:buChar char="•"/>
            </a:pPr>
            <a:r>
              <a:rPr b="0" i="0" lang="en-US" sz="16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Completed.cshtml - Finished auctions</a:t>
            </a:r>
            <a:endParaRPr b="0" i="0" sz="1600" u="none" cap="none" strike="noStrike"/>
          </a:p>
        </p:txBody>
      </p:sp>
      <p:sp>
        <p:nvSpPr>
          <p:cNvPr id="200" name="Google Shape;200;p18"/>
          <p:cNvSpPr/>
          <p:nvPr/>
        </p:nvSpPr>
        <p:spPr>
          <a:xfrm>
            <a:off x="719257" y="5156359"/>
            <a:ext cx="4063960" cy="65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600"/>
              <a:buFont typeface="Raleway"/>
              <a:buChar char="•"/>
            </a:pPr>
            <a:r>
              <a:rPr b="0" i="0" lang="en-US" sz="16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History.cshtml - Auction history and results</a:t>
            </a:r>
            <a:endParaRPr b="0" i="0" sz="1600" u="none" cap="none" strike="noStrike"/>
          </a:p>
        </p:txBody>
      </p:sp>
      <p:sp>
        <p:nvSpPr>
          <p:cNvPr id="201" name="Google Shape;201;p18"/>
          <p:cNvSpPr/>
          <p:nvPr/>
        </p:nvSpPr>
        <p:spPr>
          <a:xfrm>
            <a:off x="719257" y="5885736"/>
            <a:ext cx="4063960" cy="328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600"/>
              <a:buFont typeface="Raleway"/>
              <a:buChar char="•"/>
            </a:pPr>
            <a:r>
              <a:rPr b="0" i="0" lang="en-US" sz="16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Bid.cshtml - Bidding interface</a:t>
            </a:r>
            <a:endParaRPr b="0" i="0" sz="1600" u="none" cap="none" strike="noStrike"/>
          </a:p>
        </p:txBody>
      </p:sp>
      <p:sp>
        <p:nvSpPr>
          <p:cNvPr id="202" name="Google Shape;202;p18"/>
          <p:cNvSpPr/>
          <p:nvPr/>
        </p:nvSpPr>
        <p:spPr>
          <a:xfrm>
            <a:off x="719257" y="6286381"/>
            <a:ext cx="4063960" cy="65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600"/>
              <a:buFont typeface="Raleway"/>
              <a:buChar char="•"/>
            </a:pPr>
            <a:r>
              <a:rPr b="0" i="0" lang="en-US" sz="16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MyBids.cshtml - Personal bidding history</a:t>
            </a:r>
            <a:endParaRPr b="0" i="0" sz="1600" u="none" cap="none" strike="noStrike"/>
          </a:p>
        </p:txBody>
      </p:sp>
      <p:sp>
        <p:nvSpPr>
          <p:cNvPr id="203" name="Google Shape;203;p18"/>
          <p:cNvSpPr/>
          <p:nvPr/>
        </p:nvSpPr>
        <p:spPr>
          <a:xfrm>
            <a:off x="5292090" y="2369701"/>
            <a:ext cx="3616523" cy="321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2000"/>
              <a:buFont typeface="Prata"/>
              <a:buNone/>
            </a:pPr>
            <a:r>
              <a:rPr b="0" i="0" lang="en-US" sz="200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Search &amp; Discovery (3 Pages)</a:t>
            </a:r>
            <a:endParaRPr b="0" i="0" sz="2000" u="none" cap="none" strike="noStrike"/>
          </a:p>
        </p:txBody>
      </p:sp>
      <p:sp>
        <p:nvSpPr>
          <p:cNvPr id="204" name="Google Shape;204;p18"/>
          <p:cNvSpPr/>
          <p:nvPr/>
        </p:nvSpPr>
        <p:spPr>
          <a:xfrm>
            <a:off x="5292090" y="2896314"/>
            <a:ext cx="4062651" cy="328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600"/>
              <a:buFont typeface="Raleway"/>
              <a:buChar char="•"/>
            </a:pPr>
            <a:r>
              <a:rPr b="0" i="0" lang="en-US" sz="16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Index.cshtml - Main search interface</a:t>
            </a:r>
            <a:endParaRPr b="0" i="0" sz="1600" u="none" cap="none" strike="noStrike"/>
          </a:p>
        </p:txBody>
      </p:sp>
      <p:sp>
        <p:nvSpPr>
          <p:cNvPr id="205" name="Google Shape;205;p18"/>
          <p:cNvSpPr/>
          <p:nvPr/>
        </p:nvSpPr>
        <p:spPr>
          <a:xfrm>
            <a:off x="5292090" y="3296960"/>
            <a:ext cx="4062651" cy="65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600"/>
              <a:buFont typeface="Raleway"/>
              <a:buChar char="•"/>
            </a:pPr>
            <a:r>
              <a:rPr b="0" i="0" lang="en-US" sz="16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Advanced.cshtml - Advanced search with filters</a:t>
            </a:r>
            <a:endParaRPr b="0" i="0" sz="1600" u="none" cap="none" strike="noStrike"/>
          </a:p>
        </p:txBody>
      </p:sp>
      <p:sp>
        <p:nvSpPr>
          <p:cNvPr id="206" name="Google Shape;206;p18"/>
          <p:cNvSpPr/>
          <p:nvPr/>
        </p:nvSpPr>
        <p:spPr>
          <a:xfrm>
            <a:off x="5292090" y="4026337"/>
            <a:ext cx="4062651" cy="65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600"/>
              <a:buFont typeface="Raleway"/>
              <a:buChar char="•"/>
            </a:pPr>
            <a:r>
              <a:rPr b="0" i="0" lang="en-US" sz="16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Categories.cshtml - Category-based browsing</a:t>
            </a:r>
            <a:endParaRPr b="0" i="0" sz="1600" u="none" cap="none" strike="noStrike"/>
          </a:p>
        </p:txBody>
      </p:sp>
      <p:sp>
        <p:nvSpPr>
          <p:cNvPr id="207" name="Google Shape;207;p18"/>
          <p:cNvSpPr/>
          <p:nvPr/>
        </p:nvSpPr>
        <p:spPr>
          <a:xfrm>
            <a:off x="9863614" y="2369701"/>
            <a:ext cx="2746415" cy="321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2000"/>
              <a:buFont typeface="Prata"/>
              <a:buNone/>
            </a:pPr>
            <a:r>
              <a:rPr b="0" i="0" lang="en-US" sz="200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Public Pages (3 Pages)</a:t>
            </a:r>
            <a:endParaRPr b="0" i="0" sz="2000" u="none" cap="none" strike="noStrike"/>
          </a:p>
        </p:txBody>
      </p:sp>
      <p:sp>
        <p:nvSpPr>
          <p:cNvPr id="208" name="Google Shape;208;p18"/>
          <p:cNvSpPr/>
          <p:nvPr/>
        </p:nvSpPr>
        <p:spPr>
          <a:xfrm>
            <a:off x="9863614" y="2896314"/>
            <a:ext cx="4062651" cy="65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600"/>
              <a:buFont typeface="Raleway"/>
              <a:buChar char="•"/>
            </a:pPr>
            <a:r>
              <a:rPr b="0" i="0" lang="en-US" sz="16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Index.cshtml - Homepage with featured auctions</a:t>
            </a:r>
            <a:endParaRPr b="0" i="0" sz="1600" u="none" cap="none" strike="noStrike"/>
          </a:p>
        </p:txBody>
      </p:sp>
      <p:sp>
        <p:nvSpPr>
          <p:cNvPr id="209" name="Google Shape;209;p18"/>
          <p:cNvSpPr/>
          <p:nvPr/>
        </p:nvSpPr>
        <p:spPr>
          <a:xfrm>
            <a:off x="9863614" y="3625691"/>
            <a:ext cx="4062651" cy="328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600"/>
              <a:buFont typeface="Raleway"/>
              <a:buChar char="•"/>
            </a:pPr>
            <a:r>
              <a:rPr b="0" i="0" lang="en-US" sz="16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About.cshtml - Platform information</a:t>
            </a:r>
            <a:endParaRPr b="0" i="0" sz="1600" u="none" cap="none" strike="noStrike"/>
          </a:p>
        </p:txBody>
      </p:sp>
      <p:sp>
        <p:nvSpPr>
          <p:cNvPr id="210" name="Google Shape;210;p18"/>
          <p:cNvSpPr/>
          <p:nvPr/>
        </p:nvSpPr>
        <p:spPr>
          <a:xfrm>
            <a:off x="9863614" y="4026337"/>
            <a:ext cx="4062651" cy="65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600"/>
              <a:buFont typeface="Raleway"/>
              <a:buChar char="•"/>
            </a:pPr>
            <a:r>
              <a:rPr b="0" i="0" lang="en-US" sz="160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Contact.cshtml - Contact form and support</a:t>
            </a:r>
            <a:endParaRPr b="0" i="0" sz="1600" u="none" cap="none" strike="noStrike"/>
          </a:p>
        </p:txBody>
      </p:sp>
      <p:sp>
        <p:nvSpPr>
          <p:cNvPr id="211" name="Google Shape;211;p18"/>
          <p:cNvSpPr/>
          <p:nvPr/>
        </p:nvSpPr>
        <p:spPr>
          <a:xfrm>
            <a:off x="12815900" y="7736675"/>
            <a:ext cx="1814400" cy="492900"/>
          </a:xfrm>
          <a:prstGeom prst="rect">
            <a:avLst/>
          </a:prstGeom>
          <a:solidFill>
            <a:srgbClr val="1B1C1D"/>
          </a:solidFill>
          <a:ln cap="flat" cmpd="sng" w="9525">
            <a:solidFill>
              <a:srgbClr val="1B1C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p18" title="new_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93875" y="4889300"/>
            <a:ext cx="3232410" cy="28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8"/>
          <p:cNvSpPr txBox="1"/>
          <p:nvPr/>
        </p:nvSpPr>
        <p:spPr>
          <a:xfrm>
            <a:off x="5907800" y="0"/>
            <a:ext cx="872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Muhammad Sameer | Muhammad Shahneel |Muhammad Arham | Muhammad Abdullah | Muhammad Ibad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"/>
          <p:cNvSpPr/>
          <p:nvPr/>
        </p:nvSpPr>
        <p:spPr>
          <a:xfrm>
            <a:off x="647938" y="509945"/>
            <a:ext cx="4628078" cy="5784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88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3600"/>
              <a:buFont typeface="Prata"/>
              <a:buNone/>
            </a:pPr>
            <a:r>
              <a:rPr b="0" i="0" lang="en-US" sz="360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Core Functionalities</a:t>
            </a:r>
            <a:endParaRPr b="0" i="0" sz="3600" u="none" cap="none" strike="noStrike"/>
          </a:p>
        </p:txBody>
      </p:sp>
      <p:sp>
        <p:nvSpPr>
          <p:cNvPr id="220" name="Google Shape;220;p19"/>
          <p:cNvSpPr/>
          <p:nvPr/>
        </p:nvSpPr>
        <p:spPr>
          <a:xfrm>
            <a:off x="647938" y="1458516"/>
            <a:ext cx="4321493" cy="3186113"/>
          </a:xfrm>
          <a:prstGeom prst="roundRect">
            <a:avLst>
              <a:gd fmla="val 872" name="adj"/>
            </a:avLst>
          </a:prstGeom>
          <a:solidFill>
            <a:srgbClr val="3A3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1" name="Google Shape;22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961" y="1643539"/>
            <a:ext cx="555308" cy="5553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2" name="Google Shape;22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5599" y="1764983"/>
            <a:ext cx="249912" cy="31230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9"/>
          <p:cNvSpPr/>
          <p:nvPr/>
        </p:nvSpPr>
        <p:spPr>
          <a:xfrm>
            <a:off x="832961" y="2383869"/>
            <a:ext cx="2854523" cy="289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800"/>
              <a:buFont typeface="Prata"/>
              <a:buNone/>
            </a:pPr>
            <a:r>
              <a:rPr b="0" i="0" lang="en-US" sz="180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Real-time Bidding System</a:t>
            </a:r>
            <a:endParaRPr b="0" i="0" sz="1800" u="none" cap="none" strike="noStrike"/>
          </a:p>
        </p:txBody>
      </p:sp>
      <p:sp>
        <p:nvSpPr>
          <p:cNvPr id="224" name="Google Shape;224;p19"/>
          <p:cNvSpPr/>
          <p:nvPr/>
        </p:nvSpPr>
        <p:spPr>
          <a:xfrm>
            <a:off x="832961" y="2784158"/>
            <a:ext cx="3951446" cy="296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450"/>
              <a:buFont typeface="Raleway"/>
              <a:buChar char="•"/>
            </a:pPr>
            <a:r>
              <a:rPr b="0" i="0" lang="en-US" sz="14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Live bid updates using SignalR</a:t>
            </a:r>
            <a:endParaRPr b="0" i="0" sz="1450" u="none" cap="none" strike="noStrike"/>
          </a:p>
        </p:txBody>
      </p:sp>
      <p:sp>
        <p:nvSpPr>
          <p:cNvPr id="225" name="Google Shape;225;p19"/>
          <p:cNvSpPr/>
          <p:nvPr/>
        </p:nvSpPr>
        <p:spPr>
          <a:xfrm>
            <a:off x="832961" y="3145155"/>
            <a:ext cx="3951446" cy="296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450"/>
              <a:buFont typeface="Raleway"/>
              <a:buChar char="•"/>
            </a:pPr>
            <a:r>
              <a:rPr b="0" i="0" lang="en-US" sz="14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Automatic auction expiration handling</a:t>
            </a:r>
            <a:endParaRPr b="0" i="0" sz="1450" u="none" cap="none" strike="noStrike"/>
          </a:p>
        </p:txBody>
      </p:sp>
      <p:sp>
        <p:nvSpPr>
          <p:cNvPr id="226" name="Google Shape;226;p19"/>
          <p:cNvSpPr/>
          <p:nvPr/>
        </p:nvSpPr>
        <p:spPr>
          <a:xfrm>
            <a:off x="832961" y="3506153"/>
            <a:ext cx="3951446" cy="296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450"/>
              <a:buFont typeface="Raleway"/>
              <a:buChar char="•"/>
            </a:pPr>
            <a:r>
              <a:rPr b="0" i="0" lang="en-US" sz="14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Winner determination and notification</a:t>
            </a:r>
            <a:endParaRPr b="0" i="0" sz="1450" u="none" cap="none" strike="noStrike"/>
          </a:p>
        </p:txBody>
      </p:sp>
      <p:sp>
        <p:nvSpPr>
          <p:cNvPr id="227" name="Google Shape;227;p19"/>
          <p:cNvSpPr/>
          <p:nvPr/>
        </p:nvSpPr>
        <p:spPr>
          <a:xfrm>
            <a:off x="832961" y="3867150"/>
            <a:ext cx="3951446" cy="296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450"/>
              <a:buFont typeface="Raleway"/>
              <a:buChar char="•"/>
            </a:pPr>
            <a:r>
              <a:rPr b="0" i="0" lang="en-US" sz="14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Bid increment validation</a:t>
            </a:r>
            <a:endParaRPr b="0" i="0" sz="1450" u="none" cap="none" strike="noStrike"/>
          </a:p>
        </p:txBody>
      </p:sp>
      <p:sp>
        <p:nvSpPr>
          <p:cNvPr id="228" name="Google Shape;228;p19"/>
          <p:cNvSpPr/>
          <p:nvPr/>
        </p:nvSpPr>
        <p:spPr>
          <a:xfrm>
            <a:off x="5154454" y="1458516"/>
            <a:ext cx="4321493" cy="3186113"/>
          </a:xfrm>
          <a:prstGeom prst="roundRect">
            <a:avLst>
              <a:gd fmla="val 872" name="adj"/>
            </a:avLst>
          </a:prstGeom>
          <a:solidFill>
            <a:srgbClr val="3A3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" name="Google Shape;22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9477" y="1643539"/>
            <a:ext cx="555308" cy="5553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0" name="Google Shape;23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92115" y="1764983"/>
            <a:ext cx="249912" cy="312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9"/>
          <p:cNvSpPr/>
          <p:nvPr/>
        </p:nvSpPr>
        <p:spPr>
          <a:xfrm>
            <a:off x="5339477" y="2383869"/>
            <a:ext cx="2313980" cy="289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800"/>
              <a:buFont typeface="Prata"/>
              <a:buNone/>
            </a:pPr>
            <a:r>
              <a:rPr b="0" i="0" lang="en-US" sz="180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User Management</a:t>
            </a:r>
            <a:endParaRPr b="0" i="0" sz="1800" u="none" cap="none" strike="noStrike"/>
          </a:p>
        </p:txBody>
      </p:sp>
      <p:sp>
        <p:nvSpPr>
          <p:cNvPr id="232" name="Google Shape;232;p19"/>
          <p:cNvSpPr/>
          <p:nvPr/>
        </p:nvSpPr>
        <p:spPr>
          <a:xfrm>
            <a:off x="5339477" y="2784158"/>
            <a:ext cx="3951446" cy="296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450"/>
              <a:buFont typeface="Raleway"/>
              <a:buChar char="•"/>
            </a:pPr>
            <a:r>
              <a:rPr b="0" i="0" lang="en-US" sz="14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Role-based access control (Admin/User)</a:t>
            </a:r>
            <a:endParaRPr b="0" i="0" sz="1450" u="none" cap="none" strike="noStrike"/>
          </a:p>
        </p:txBody>
      </p:sp>
      <p:sp>
        <p:nvSpPr>
          <p:cNvPr id="233" name="Google Shape;233;p19"/>
          <p:cNvSpPr/>
          <p:nvPr/>
        </p:nvSpPr>
        <p:spPr>
          <a:xfrm>
            <a:off x="5339477" y="3145155"/>
            <a:ext cx="3951446" cy="296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450"/>
              <a:buFont typeface="Raleway"/>
              <a:buChar char="•"/>
            </a:pPr>
            <a:r>
              <a:rPr b="0" i="0" lang="en-US" sz="14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Profile management and authentication</a:t>
            </a:r>
            <a:endParaRPr b="0" i="0" sz="1450" u="none" cap="none" strike="noStrike"/>
          </a:p>
        </p:txBody>
      </p:sp>
      <p:sp>
        <p:nvSpPr>
          <p:cNvPr id="234" name="Google Shape;234;p19"/>
          <p:cNvSpPr/>
          <p:nvPr/>
        </p:nvSpPr>
        <p:spPr>
          <a:xfrm>
            <a:off x="5339477" y="3506153"/>
            <a:ext cx="3951446" cy="296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450"/>
              <a:buFont typeface="Raleway"/>
              <a:buChar char="•"/>
            </a:pPr>
            <a:r>
              <a:rPr b="0" i="0" lang="en-US" sz="14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User blocking and moderation tools</a:t>
            </a:r>
            <a:endParaRPr b="0" i="0" sz="1450" u="none" cap="none" strike="noStrike"/>
          </a:p>
        </p:txBody>
      </p:sp>
      <p:sp>
        <p:nvSpPr>
          <p:cNvPr id="235" name="Google Shape;235;p19"/>
          <p:cNvSpPr/>
          <p:nvPr/>
        </p:nvSpPr>
        <p:spPr>
          <a:xfrm>
            <a:off x="5339477" y="3867150"/>
            <a:ext cx="3951446" cy="296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450"/>
              <a:buFont typeface="Raleway"/>
              <a:buChar char="•"/>
            </a:pPr>
            <a:r>
              <a:rPr b="0" i="0" lang="en-US" sz="14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Registration and login system</a:t>
            </a:r>
            <a:endParaRPr b="0" i="0" sz="1450" u="none" cap="none" strike="noStrike"/>
          </a:p>
        </p:txBody>
      </p:sp>
      <p:sp>
        <p:nvSpPr>
          <p:cNvPr id="236" name="Google Shape;236;p19"/>
          <p:cNvSpPr/>
          <p:nvPr/>
        </p:nvSpPr>
        <p:spPr>
          <a:xfrm>
            <a:off x="9660969" y="1458516"/>
            <a:ext cx="4321493" cy="3186113"/>
          </a:xfrm>
          <a:prstGeom prst="roundRect">
            <a:avLst>
              <a:gd fmla="val 872" name="adj"/>
            </a:avLst>
          </a:prstGeom>
          <a:solidFill>
            <a:srgbClr val="3A3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7" name="Google Shape;23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45993" y="1643539"/>
            <a:ext cx="555308" cy="5553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8" name="Google Shape;23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98631" y="1764983"/>
            <a:ext cx="249912" cy="312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9"/>
          <p:cNvSpPr/>
          <p:nvPr/>
        </p:nvSpPr>
        <p:spPr>
          <a:xfrm>
            <a:off x="9845993" y="2383869"/>
            <a:ext cx="2313980" cy="289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800"/>
              <a:buFont typeface="Prata"/>
              <a:buNone/>
            </a:pPr>
            <a:r>
              <a:rPr b="0" i="0" lang="en-US" sz="180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Item Management</a:t>
            </a:r>
            <a:endParaRPr b="0" i="0" sz="1800" u="none" cap="none" strike="noStrike"/>
          </a:p>
        </p:txBody>
      </p:sp>
      <p:sp>
        <p:nvSpPr>
          <p:cNvPr id="240" name="Google Shape;240;p19"/>
          <p:cNvSpPr/>
          <p:nvPr/>
        </p:nvSpPr>
        <p:spPr>
          <a:xfrm>
            <a:off x="9845993" y="2784158"/>
            <a:ext cx="3951446" cy="296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450"/>
              <a:buFont typeface="Raleway"/>
              <a:buChar char="•"/>
            </a:pPr>
            <a:r>
              <a:rPr b="0" i="0" lang="en-US" sz="14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Multi-image upload support</a:t>
            </a:r>
            <a:endParaRPr b="0" i="0" sz="1450" u="none" cap="none" strike="noStrike"/>
          </a:p>
        </p:txBody>
      </p:sp>
      <p:sp>
        <p:nvSpPr>
          <p:cNvPr id="241" name="Google Shape;241;p19"/>
          <p:cNvSpPr/>
          <p:nvPr/>
        </p:nvSpPr>
        <p:spPr>
          <a:xfrm>
            <a:off x="9845993" y="3145155"/>
            <a:ext cx="3951446" cy="296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450"/>
              <a:buFont typeface="Raleway"/>
              <a:buChar char="•"/>
            </a:pPr>
            <a:r>
              <a:rPr b="0" i="0" lang="en-US" sz="14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Category-based organization</a:t>
            </a:r>
            <a:endParaRPr b="0" i="0" sz="1450" u="none" cap="none" strike="noStrike"/>
          </a:p>
        </p:txBody>
      </p:sp>
      <p:sp>
        <p:nvSpPr>
          <p:cNvPr id="242" name="Google Shape;242;p19"/>
          <p:cNvSpPr/>
          <p:nvPr/>
        </p:nvSpPr>
        <p:spPr>
          <a:xfrm>
            <a:off x="9845993" y="3506153"/>
            <a:ext cx="3951446" cy="296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450"/>
              <a:buFont typeface="Raleway"/>
              <a:buChar char="•"/>
            </a:pPr>
            <a:r>
              <a:rPr b="0" i="0" lang="en-US" sz="14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Approval workflow for new listings</a:t>
            </a:r>
            <a:endParaRPr b="0" i="0" sz="1450" u="none" cap="none" strike="noStrike"/>
          </a:p>
        </p:txBody>
      </p:sp>
      <p:sp>
        <p:nvSpPr>
          <p:cNvPr id="243" name="Google Shape;243;p19"/>
          <p:cNvSpPr/>
          <p:nvPr/>
        </p:nvSpPr>
        <p:spPr>
          <a:xfrm>
            <a:off x="9845993" y="3867150"/>
            <a:ext cx="3951446" cy="592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450"/>
              <a:buFont typeface="Raleway"/>
              <a:buChar char="•"/>
            </a:pPr>
            <a:r>
              <a:rPr b="0" i="0" lang="en-US" sz="14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Status tracking (Active, Pending, Sold, Expired)</a:t>
            </a:r>
            <a:endParaRPr b="0" i="0" sz="1450" u="none" cap="none" strike="noStrike"/>
          </a:p>
        </p:txBody>
      </p:sp>
      <p:sp>
        <p:nvSpPr>
          <p:cNvPr id="244" name="Google Shape;244;p19"/>
          <p:cNvSpPr/>
          <p:nvPr/>
        </p:nvSpPr>
        <p:spPr>
          <a:xfrm>
            <a:off x="647938" y="4829651"/>
            <a:ext cx="6574750" cy="2889885"/>
          </a:xfrm>
          <a:prstGeom prst="roundRect">
            <a:avLst>
              <a:gd fmla="val 961" name="adj"/>
            </a:avLst>
          </a:prstGeom>
          <a:solidFill>
            <a:srgbClr val="3A3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5" name="Google Shape;245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2961" y="5014674"/>
            <a:ext cx="555308" cy="5553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6" name="Google Shape;246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5599" y="5136118"/>
            <a:ext cx="249912" cy="312301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9"/>
          <p:cNvSpPr/>
          <p:nvPr/>
        </p:nvSpPr>
        <p:spPr>
          <a:xfrm>
            <a:off x="832961" y="5755005"/>
            <a:ext cx="2424946" cy="289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800"/>
              <a:buFont typeface="Prata"/>
              <a:buNone/>
            </a:pPr>
            <a:r>
              <a:rPr b="0" i="0" lang="en-US" sz="180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Analytics &amp; Reporting</a:t>
            </a:r>
            <a:endParaRPr b="0" i="0" sz="1800" u="none" cap="none" strike="noStrike"/>
          </a:p>
        </p:txBody>
      </p:sp>
      <p:sp>
        <p:nvSpPr>
          <p:cNvPr id="248" name="Google Shape;248;p19"/>
          <p:cNvSpPr/>
          <p:nvPr/>
        </p:nvSpPr>
        <p:spPr>
          <a:xfrm>
            <a:off x="832961" y="6155293"/>
            <a:ext cx="6204704" cy="296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450"/>
              <a:buFont typeface="Raleway"/>
              <a:buChar char="•"/>
            </a:pPr>
            <a:r>
              <a:rPr b="0" i="0" lang="en-US" sz="14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Seller performance metrics</a:t>
            </a:r>
            <a:endParaRPr b="0" i="0" sz="1450" u="none" cap="none" strike="noStrike"/>
          </a:p>
        </p:txBody>
      </p:sp>
      <p:sp>
        <p:nvSpPr>
          <p:cNvPr id="249" name="Google Shape;249;p19"/>
          <p:cNvSpPr/>
          <p:nvPr/>
        </p:nvSpPr>
        <p:spPr>
          <a:xfrm>
            <a:off x="832961" y="6516291"/>
            <a:ext cx="6204704" cy="296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450"/>
              <a:buFont typeface="Raleway"/>
              <a:buChar char="•"/>
            </a:pPr>
            <a:r>
              <a:rPr b="0" i="0" lang="en-US" sz="14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Monthly earnings reports</a:t>
            </a:r>
            <a:endParaRPr b="0" i="0" sz="1450" u="none" cap="none" strike="noStrike"/>
          </a:p>
        </p:txBody>
      </p:sp>
      <p:sp>
        <p:nvSpPr>
          <p:cNvPr id="250" name="Google Shape;250;p19"/>
          <p:cNvSpPr/>
          <p:nvPr/>
        </p:nvSpPr>
        <p:spPr>
          <a:xfrm>
            <a:off x="832961" y="6877288"/>
            <a:ext cx="6204704" cy="296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450"/>
              <a:buFont typeface="Raleway"/>
              <a:buChar char="•"/>
            </a:pPr>
            <a:r>
              <a:rPr b="0" i="0" lang="en-US" sz="14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Category-wise statistics</a:t>
            </a:r>
            <a:endParaRPr b="0" i="0" sz="1450" u="none" cap="none" strike="noStrike"/>
          </a:p>
        </p:txBody>
      </p:sp>
      <p:sp>
        <p:nvSpPr>
          <p:cNvPr id="251" name="Google Shape;251;p19"/>
          <p:cNvSpPr/>
          <p:nvPr/>
        </p:nvSpPr>
        <p:spPr>
          <a:xfrm>
            <a:off x="832961" y="7238286"/>
            <a:ext cx="6204704" cy="296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450"/>
              <a:buFont typeface="Raleway"/>
              <a:buChar char="•"/>
            </a:pPr>
            <a:r>
              <a:rPr b="0" i="0" lang="en-US" sz="14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Bidding activity monitoring</a:t>
            </a:r>
            <a:endParaRPr b="0" i="0" sz="1450" u="none" cap="none" strike="noStrike"/>
          </a:p>
        </p:txBody>
      </p:sp>
      <p:sp>
        <p:nvSpPr>
          <p:cNvPr id="252" name="Google Shape;252;p19"/>
          <p:cNvSpPr/>
          <p:nvPr/>
        </p:nvSpPr>
        <p:spPr>
          <a:xfrm>
            <a:off x="7407712" y="4829651"/>
            <a:ext cx="6574750" cy="2889885"/>
          </a:xfrm>
          <a:prstGeom prst="roundRect">
            <a:avLst>
              <a:gd fmla="val 961" name="adj"/>
            </a:avLst>
          </a:prstGeom>
          <a:solidFill>
            <a:srgbClr val="3A3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3" name="Google Shape;253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92735" y="5014674"/>
            <a:ext cx="555308" cy="5553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4" name="Google Shape;254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745373" y="5136118"/>
            <a:ext cx="249912" cy="312301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9"/>
          <p:cNvSpPr/>
          <p:nvPr/>
        </p:nvSpPr>
        <p:spPr>
          <a:xfrm>
            <a:off x="7592735" y="5755005"/>
            <a:ext cx="2649141" cy="289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800"/>
              <a:buFont typeface="Prata"/>
              <a:buNone/>
            </a:pPr>
            <a:r>
              <a:rPr b="0" i="0" lang="en-US" sz="180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Communication System</a:t>
            </a:r>
            <a:endParaRPr b="0" i="0" sz="1800" u="none" cap="none" strike="noStrike"/>
          </a:p>
        </p:txBody>
      </p:sp>
      <p:sp>
        <p:nvSpPr>
          <p:cNvPr id="256" name="Google Shape;256;p19"/>
          <p:cNvSpPr/>
          <p:nvPr/>
        </p:nvSpPr>
        <p:spPr>
          <a:xfrm>
            <a:off x="7592735" y="6155293"/>
            <a:ext cx="6204704" cy="296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450"/>
              <a:buFont typeface="Raleway"/>
              <a:buChar char="•"/>
            </a:pPr>
            <a:r>
              <a:rPr b="0" i="0" lang="en-US" sz="14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Contact message handling</a:t>
            </a:r>
            <a:endParaRPr b="0" i="0" sz="1450" u="none" cap="none" strike="noStrike"/>
          </a:p>
        </p:txBody>
      </p:sp>
      <p:sp>
        <p:nvSpPr>
          <p:cNvPr id="257" name="Google Shape;257;p19"/>
          <p:cNvSpPr/>
          <p:nvPr/>
        </p:nvSpPr>
        <p:spPr>
          <a:xfrm>
            <a:off x="7592735" y="6516291"/>
            <a:ext cx="6204704" cy="296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450"/>
              <a:buFont typeface="Raleway"/>
              <a:buChar char="•"/>
            </a:pPr>
            <a:r>
              <a:rPr b="0" i="0" lang="en-US" sz="14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User notifications</a:t>
            </a:r>
            <a:endParaRPr b="0" i="0" sz="1450" u="none" cap="none" strike="noStrike"/>
          </a:p>
        </p:txBody>
      </p:sp>
      <p:sp>
        <p:nvSpPr>
          <p:cNvPr id="258" name="Google Shape;258;p19"/>
          <p:cNvSpPr/>
          <p:nvPr/>
        </p:nvSpPr>
        <p:spPr>
          <a:xfrm>
            <a:off x="7592735" y="6877288"/>
            <a:ext cx="6204704" cy="296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450"/>
              <a:buFont typeface="Raleway"/>
              <a:buChar char="•"/>
            </a:pPr>
            <a:r>
              <a:rPr b="0" i="0" lang="en-US" sz="14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Admin-user communication</a:t>
            </a:r>
            <a:endParaRPr b="0" i="0" sz="1450" u="none" cap="none" strike="noStrike"/>
          </a:p>
        </p:txBody>
      </p:sp>
      <p:sp>
        <p:nvSpPr>
          <p:cNvPr id="259" name="Google Shape;259;p19"/>
          <p:cNvSpPr/>
          <p:nvPr/>
        </p:nvSpPr>
        <p:spPr>
          <a:xfrm>
            <a:off x="12815900" y="7736675"/>
            <a:ext cx="1814400" cy="492900"/>
          </a:xfrm>
          <a:prstGeom prst="rect">
            <a:avLst/>
          </a:prstGeom>
          <a:solidFill>
            <a:srgbClr val="1B1C1D"/>
          </a:solidFill>
          <a:ln cap="flat" cmpd="sng" w="9525">
            <a:solidFill>
              <a:srgbClr val="1B1C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6015000" y="31025"/>
            <a:ext cx="861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Muhammad Sameer | Muhammad Shahneel |Muhammad Arham | Muhammad Abdullah | Muhammad Ibad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"/>
          <p:cNvSpPr/>
          <p:nvPr/>
        </p:nvSpPr>
        <p:spPr>
          <a:xfrm>
            <a:off x="787956" y="619601"/>
            <a:ext cx="6141482" cy="703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4400"/>
              <a:buFont typeface="Prata"/>
              <a:buNone/>
            </a:pPr>
            <a:r>
              <a:rPr b="0" i="0" lang="en-US" sz="440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Business Process Flow</a:t>
            </a:r>
            <a:endParaRPr b="0" i="0" sz="4400" u="none" cap="none" strike="noStrike"/>
          </a:p>
        </p:txBody>
      </p:sp>
      <p:pic>
        <p:nvPicPr>
          <p:cNvPr descr="preencoded.png" id="267" name="Google Shape;2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956" y="1773555"/>
            <a:ext cx="6527244" cy="900589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0"/>
          <p:cNvSpPr/>
          <p:nvPr/>
        </p:nvSpPr>
        <p:spPr>
          <a:xfrm>
            <a:off x="1013103" y="2899291"/>
            <a:ext cx="4706422" cy="351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2200"/>
              <a:buFont typeface="Prata"/>
              <a:buNone/>
            </a:pPr>
            <a:r>
              <a:rPr b="0" i="0" lang="en-US" sz="220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User Registration &amp; Authentication</a:t>
            </a:r>
            <a:endParaRPr b="0" i="0" sz="2200" u="none" cap="none" strike="noStrike"/>
          </a:p>
        </p:txBody>
      </p:sp>
      <p:sp>
        <p:nvSpPr>
          <p:cNvPr id="269" name="Google Shape;269;p20"/>
          <p:cNvSpPr/>
          <p:nvPr/>
        </p:nvSpPr>
        <p:spPr>
          <a:xfrm>
            <a:off x="1013103" y="3386138"/>
            <a:ext cx="6076950" cy="720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Registration → Email Verification → Profile Setup → Role Assignment</a:t>
            </a:r>
            <a:endParaRPr b="0" i="0" sz="1750" u="none" cap="none" strike="noStrike"/>
          </a:p>
        </p:txBody>
      </p:sp>
      <p:pic>
        <p:nvPicPr>
          <p:cNvPr descr="preencoded.png" id="270" name="Google Shape;27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0" y="1773555"/>
            <a:ext cx="6527244" cy="900589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0"/>
          <p:cNvSpPr/>
          <p:nvPr/>
        </p:nvSpPr>
        <p:spPr>
          <a:xfrm>
            <a:off x="7540347" y="2899291"/>
            <a:ext cx="2814399" cy="351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2200"/>
              <a:buFont typeface="Prata"/>
              <a:buNone/>
            </a:pPr>
            <a:r>
              <a:rPr b="0" i="0" lang="en-US" sz="220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Seller Workflow</a:t>
            </a:r>
            <a:endParaRPr b="0" i="0" sz="2200" u="none" cap="none" strike="noStrike"/>
          </a:p>
        </p:txBody>
      </p:sp>
      <p:sp>
        <p:nvSpPr>
          <p:cNvPr id="272" name="Google Shape;272;p20"/>
          <p:cNvSpPr/>
          <p:nvPr/>
        </p:nvSpPr>
        <p:spPr>
          <a:xfrm>
            <a:off x="7540347" y="3386138"/>
            <a:ext cx="6076950" cy="1080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Create Listing → Admin Approval → Active Auction → Bidding Period → Auction End → Winner Determination → Payment Processing</a:t>
            </a:r>
            <a:endParaRPr b="0" i="0" sz="1750" u="none" cap="none" strike="noStrike"/>
          </a:p>
        </p:txBody>
      </p:sp>
      <p:pic>
        <p:nvPicPr>
          <p:cNvPr descr="preencoded.png" id="273" name="Google Shape;27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7956" y="4691777"/>
            <a:ext cx="6527244" cy="90058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0"/>
          <p:cNvSpPr/>
          <p:nvPr/>
        </p:nvSpPr>
        <p:spPr>
          <a:xfrm>
            <a:off x="1013103" y="5817513"/>
            <a:ext cx="2814399" cy="351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2200"/>
              <a:buFont typeface="Prata"/>
              <a:buNone/>
            </a:pPr>
            <a:r>
              <a:rPr b="0" i="0" lang="en-US" sz="220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Buyer Workflow</a:t>
            </a:r>
            <a:endParaRPr b="0" i="0" sz="2200" u="none" cap="none" strike="noStrike"/>
          </a:p>
        </p:txBody>
      </p:sp>
      <p:sp>
        <p:nvSpPr>
          <p:cNvPr id="275" name="Google Shape;275;p20"/>
          <p:cNvSpPr/>
          <p:nvPr/>
        </p:nvSpPr>
        <p:spPr>
          <a:xfrm>
            <a:off x="1013103" y="6304359"/>
            <a:ext cx="6076950" cy="1080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Browse Items → Add to Watchlist → Place Bids → Monitor Auctions → Win/Lose Notification → Transaction Completion</a:t>
            </a:r>
            <a:endParaRPr b="0" i="0" sz="1750" u="none" cap="none" strike="noStrike"/>
          </a:p>
        </p:txBody>
      </p:sp>
      <p:pic>
        <p:nvPicPr>
          <p:cNvPr descr="preencoded.png" id="276" name="Google Shape;27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5200" y="4691777"/>
            <a:ext cx="6527244" cy="900589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0"/>
          <p:cNvSpPr/>
          <p:nvPr/>
        </p:nvSpPr>
        <p:spPr>
          <a:xfrm>
            <a:off x="7540347" y="5817513"/>
            <a:ext cx="2814399" cy="351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2200"/>
              <a:buFont typeface="Prata"/>
              <a:buNone/>
            </a:pPr>
            <a:r>
              <a:rPr b="0" i="0" lang="en-US" sz="2200" u="none" cap="none" strike="noStrike">
                <a:solidFill>
                  <a:srgbClr val="CFCBBF"/>
                </a:solidFill>
                <a:latin typeface="Prata"/>
                <a:ea typeface="Prata"/>
                <a:cs typeface="Prata"/>
                <a:sym typeface="Prata"/>
              </a:rPr>
              <a:t>Admin Workflow</a:t>
            </a:r>
            <a:endParaRPr b="0" i="0" sz="2200" u="none" cap="none" strike="noStrike"/>
          </a:p>
        </p:txBody>
      </p:sp>
      <p:sp>
        <p:nvSpPr>
          <p:cNvPr id="278" name="Google Shape;278;p20"/>
          <p:cNvSpPr/>
          <p:nvPr/>
        </p:nvSpPr>
        <p:spPr>
          <a:xfrm>
            <a:off x="7540347" y="6304359"/>
            <a:ext cx="6076950" cy="1080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Monitor Platform → Approve Listings → Manage Users → Handle Disputes → Generate Reports → System Maintenance</a:t>
            </a:r>
            <a:endParaRPr b="0" i="0" sz="1750" u="none" cap="none" strike="noStrike"/>
          </a:p>
        </p:txBody>
      </p:sp>
      <p:sp>
        <p:nvSpPr>
          <p:cNvPr id="279" name="Google Shape;279;p20"/>
          <p:cNvSpPr/>
          <p:nvPr/>
        </p:nvSpPr>
        <p:spPr>
          <a:xfrm>
            <a:off x="12815900" y="7736675"/>
            <a:ext cx="1814400" cy="492900"/>
          </a:xfrm>
          <a:prstGeom prst="rect">
            <a:avLst/>
          </a:prstGeom>
          <a:solidFill>
            <a:srgbClr val="1B1C1D"/>
          </a:solidFill>
          <a:ln cap="flat" cmpd="sng" w="9525">
            <a:solidFill>
              <a:srgbClr val="1B1C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6036600" y="0"/>
            <a:ext cx="859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Muhammad Sameer | Muhammad Shahneel |Muhammad Arham | Muhammad Abdullah | Muhammad Ibad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1"/>
          <p:cNvSpPr/>
          <p:nvPr/>
        </p:nvSpPr>
        <p:spPr>
          <a:xfrm>
            <a:off x="793790" y="83212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4450"/>
              <a:buFont typeface="Prata"/>
              <a:buNone/>
            </a:pPr>
            <a:r>
              <a:rPr b="0" i="0" lang="en-US" sz="445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Key Features</a:t>
            </a:r>
            <a:endParaRPr b="0" i="0" sz="4450" u="none" cap="none" strike="noStrike"/>
          </a:p>
        </p:txBody>
      </p:sp>
      <p:sp>
        <p:nvSpPr>
          <p:cNvPr id="287" name="Google Shape;287;p21"/>
          <p:cNvSpPr/>
          <p:nvPr/>
        </p:nvSpPr>
        <p:spPr>
          <a:xfrm>
            <a:off x="793790" y="2107883"/>
            <a:ext cx="390179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2200"/>
              <a:buFont typeface="Prata"/>
              <a:buNone/>
            </a:pPr>
            <a:r>
              <a:rPr b="0" i="0" lang="en-US" sz="220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Advanced Search &amp; Filtering</a:t>
            </a:r>
            <a:endParaRPr b="0" i="0" sz="2200" u="none" cap="none" strike="noStrike"/>
          </a:p>
        </p:txBody>
      </p:sp>
      <p:sp>
        <p:nvSpPr>
          <p:cNvPr id="288" name="Google Shape;288;p21"/>
          <p:cNvSpPr/>
          <p:nvPr/>
        </p:nvSpPr>
        <p:spPr>
          <a:xfrm>
            <a:off x="793790" y="268902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Char char="•"/>
            </a:pP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Text-based search</a:t>
            </a:r>
            <a:endParaRPr b="0" i="0" sz="1750" u="none" cap="none" strike="noStrike"/>
          </a:p>
        </p:txBody>
      </p:sp>
      <p:sp>
        <p:nvSpPr>
          <p:cNvPr id="289" name="Google Shape;289;p21"/>
          <p:cNvSpPr/>
          <p:nvPr/>
        </p:nvSpPr>
        <p:spPr>
          <a:xfrm>
            <a:off x="793790" y="313122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Char char="•"/>
            </a:pP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Category filtering</a:t>
            </a:r>
            <a:endParaRPr b="0" i="0" sz="1750" u="none" cap="none" strike="noStrike"/>
          </a:p>
        </p:txBody>
      </p:sp>
      <p:sp>
        <p:nvSpPr>
          <p:cNvPr id="290" name="Google Shape;290;p21"/>
          <p:cNvSpPr/>
          <p:nvPr/>
        </p:nvSpPr>
        <p:spPr>
          <a:xfrm>
            <a:off x="793790" y="3573423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Char char="•"/>
            </a:pP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Price range filtering</a:t>
            </a:r>
            <a:endParaRPr b="0" i="0" sz="1750" u="none" cap="none" strike="noStrike"/>
          </a:p>
        </p:txBody>
      </p:sp>
      <p:sp>
        <p:nvSpPr>
          <p:cNvPr id="291" name="Google Shape;291;p21"/>
          <p:cNvSpPr/>
          <p:nvPr/>
        </p:nvSpPr>
        <p:spPr>
          <a:xfrm>
            <a:off x="793790" y="401562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Char char="•"/>
            </a:pP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Status-based filtering</a:t>
            </a:r>
            <a:endParaRPr b="0" i="0" sz="1750" u="none" cap="none" strike="noStrike"/>
          </a:p>
        </p:txBody>
      </p:sp>
      <p:sp>
        <p:nvSpPr>
          <p:cNvPr id="292" name="Google Shape;292;p21"/>
          <p:cNvSpPr/>
          <p:nvPr/>
        </p:nvSpPr>
        <p:spPr>
          <a:xfrm>
            <a:off x="793790" y="4457819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Char char="•"/>
            </a:pP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Advanced search combinations</a:t>
            </a:r>
            <a:endParaRPr b="0" i="0" sz="1750" u="none" cap="none" strike="noStrike"/>
          </a:p>
        </p:txBody>
      </p:sp>
      <p:sp>
        <p:nvSpPr>
          <p:cNvPr id="293" name="Google Shape;293;p21"/>
          <p:cNvSpPr/>
          <p:nvPr/>
        </p:nvSpPr>
        <p:spPr>
          <a:xfrm>
            <a:off x="793790" y="504753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2200"/>
              <a:buFont typeface="Prata"/>
              <a:buNone/>
            </a:pPr>
            <a:r>
              <a:rPr b="0" i="0" lang="en-US" sz="220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Real-time Updates</a:t>
            </a:r>
            <a:endParaRPr b="0" i="0" sz="2200" u="none" cap="none" strike="noStrike"/>
          </a:p>
        </p:txBody>
      </p:sp>
      <p:sp>
        <p:nvSpPr>
          <p:cNvPr id="294" name="Google Shape;294;p21"/>
          <p:cNvSpPr/>
          <p:nvPr/>
        </p:nvSpPr>
        <p:spPr>
          <a:xfrm>
            <a:off x="793790" y="5628680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Char char="•"/>
            </a:pP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Live bidding updates</a:t>
            </a:r>
            <a:endParaRPr b="0" i="0" sz="1750" u="none" cap="none" strike="noStrike"/>
          </a:p>
        </p:txBody>
      </p:sp>
      <p:sp>
        <p:nvSpPr>
          <p:cNvPr id="295" name="Google Shape;295;p21"/>
          <p:cNvSpPr/>
          <p:nvPr/>
        </p:nvSpPr>
        <p:spPr>
          <a:xfrm>
            <a:off x="793790" y="607087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Char char="•"/>
            </a:pP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Auction countdown timers</a:t>
            </a:r>
            <a:endParaRPr b="0" i="0" sz="1750" u="none" cap="none" strike="noStrike"/>
          </a:p>
        </p:txBody>
      </p:sp>
      <p:sp>
        <p:nvSpPr>
          <p:cNvPr id="296" name="Google Shape;296;p21"/>
          <p:cNvSpPr/>
          <p:nvPr/>
        </p:nvSpPr>
        <p:spPr>
          <a:xfrm>
            <a:off x="793790" y="6513076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Char char="•"/>
            </a:pP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Instant notifications</a:t>
            </a:r>
            <a:endParaRPr b="0" i="0" sz="1750" u="none" cap="none" strike="noStrike"/>
          </a:p>
        </p:txBody>
      </p:sp>
      <p:sp>
        <p:nvSpPr>
          <p:cNvPr id="297" name="Google Shape;297;p21"/>
          <p:cNvSpPr/>
          <p:nvPr/>
        </p:nvSpPr>
        <p:spPr>
          <a:xfrm>
            <a:off x="793790" y="6955274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Char char="•"/>
            </a:pP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Dynamic price updates</a:t>
            </a:r>
            <a:endParaRPr b="0" i="0" sz="1750" u="none" cap="none" strike="noStrike"/>
          </a:p>
        </p:txBody>
      </p:sp>
      <p:sp>
        <p:nvSpPr>
          <p:cNvPr id="298" name="Google Shape;298;p21"/>
          <p:cNvSpPr/>
          <p:nvPr/>
        </p:nvSpPr>
        <p:spPr>
          <a:xfrm>
            <a:off x="7599521" y="2107883"/>
            <a:ext cx="346317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2200"/>
              <a:buFont typeface="Prata"/>
              <a:buNone/>
            </a:pPr>
            <a:r>
              <a:rPr b="0" i="0" lang="en-US" sz="220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Comprehensive Analytics</a:t>
            </a:r>
            <a:endParaRPr b="0" i="0" sz="2200" u="none" cap="none" strike="noStrike"/>
          </a:p>
        </p:txBody>
      </p:sp>
      <p:sp>
        <p:nvSpPr>
          <p:cNvPr id="299" name="Google Shape;299;p21"/>
          <p:cNvSpPr/>
          <p:nvPr/>
        </p:nvSpPr>
        <p:spPr>
          <a:xfrm>
            <a:off x="7599521" y="268902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Char char="•"/>
            </a:pP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Sales performance tracking</a:t>
            </a:r>
            <a:endParaRPr b="0" i="0" sz="1750" u="none" cap="none" strike="noStrike"/>
          </a:p>
        </p:txBody>
      </p:sp>
      <p:sp>
        <p:nvSpPr>
          <p:cNvPr id="300" name="Google Shape;300;p21"/>
          <p:cNvSpPr/>
          <p:nvPr/>
        </p:nvSpPr>
        <p:spPr>
          <a:xfrm>
            <a:off x="7599521" y="313122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Char char="•"/>
            </a:pP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Monthly earnings reports</a:t>
            </a:r>
            <a:endParaRPr b="0" i="0" sz="1750" u="none" cap="none" strike="noStrike"/>
          </a:p>
        </p:txBody>
      </p:sp>
      <p:sp>
        <p:nvSpPr>
          <p:cNvPr id="301" name="Google Shape;301;p21"/>
          <p:cNvSpPr/>
          <p:nvPr/>
        </p:nvSpPr>
        <p:spPr>
          <a:xfrm>
            <a:off x="7599521" y="3573423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Char char="•"/>
            </a:pP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Category performance analysis</a:t>
            </a:r>
            <a:endParaRPr b="0" i="0" sz="1750" u="none" cap="none" strike="noStrike"/>
          </a:p>
        </p:txBody>
      </p:sp>
      <p:sp>
        <p:nvSpPr>
          <p:cNvPr id="302" name="Google Shape;302;p21"/>
          <p:cNvSpPr/>
          <p:nvPr/>
        </p:nvSpPr>
        <p:spPr>
          <a:xfrm>
            <a:off x="7599521" y="401562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Char char="•"/>
            </a:pP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User activity monitoring</a:t>
            </a:r>
            <a:endParaRPr b="0" i="0" sz="1750" u="none" cap="none" strike="noStrike"/>
          </a:p>
        </p:txBody>
      </p:sp>
      <p:sp>
        <p:nvSpPr>
          <p:cNvPr id="303" name="Google Shape;303;p21"/>
          <p:cNvSpPr/>
          <p:nvPr/>
        </p:nvSpPr>
        <p:spPr>
          <a:xfrm>
            <a:off x="7599521" y="460533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2200"/>
              <a:buFont typeface="Prata"/>
              <a:buNone/>
            </a:pPr>
            <a:r>
              <a:rPr b="0" i="0" lang="en-US" sz="220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Security Features</a:t>
            </a:r>
            <a:endParaRPr b="0" i="0" sz="2200" u="none" cap="none" strike="noStrike"/>
          </a:p>
        </p:txBody>
      </p:sp>
      <p:sp>
        <p:nvSpPr>
          <p:cNvPr id="304" name="Google Shape;304;p21"/>
          <p:cNvSpPr/>
          <p:nvPr/>
        </p:nvSpPr>
        <p:spPr>
          <a:xfrm>
            <a:off x="7599521" y="5186482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Char char="•"/>
            </a:pP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Password hashing with BCrypt</a:t>
            </a:r>
            <a:endParaRPr b="0" i="0" sz="1750" u="none" cap="none" strike="noStrike"/>
          </a:p>
        </p:txBody>
      </p:sp>
      <p:sp>
        <p:nvSpPr>
          <p:cNvPr id="305" name="Google Shape;305;p21"/>
          <p:cNvSpPr/>
          <p:nvPr/>
        </p:nvSpPr>
        <p:spPr>
          <a:xfrm>
            <a:off x="7599521" y="5628680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Char char="•"/>
            </a:pP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Role-based authorization</a:t>
            </a:r>
            <a:endParaRPr b="0" i="0" sz="1750" u="none" cap="none" strike="noStrike"/>
          </a:p>
        </p:txBody>
      </p:sp>
      <p:sp>
        <p:nvSpPr>
          <p:cNvPr id="306" name="Google Shape;306;p21"/>
          <p:cNvSpPr/>
          <p:nvPr/>
        </p:nvSpPr>
        <p:spPr>
          <a:xfrm>
            <a:off x="7599521" y="6070878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Char char="•"/>
            </a:pP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Session management</a:t>
            </a:r>
            <a:endParaRPr b="0" i="0" sz="1750" u="none" cap="none" strike="noStrike"/>
          </a:p>
        </p:txBody>
      </p:sp>
      <p:sp>
        <p:nvSpPr>
          <p:cNvPr id="307" name="Google Shape;307;p21"/>
          <p:cNvSpPr/>
          <p:nvPr/>
        </p:nvSpPr>
        <p:spPr>
          <a:xfrm>
            <a:off x="7599521" y="6513076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Char char="•"/>
            </a:pP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Input validation and sanitization</a:t>
            </a:r>
            <a:endParaRPr b="0" i="0" sz="1750" u="none" cap="none" strike="noStrike"/>
          </a:p>
        </p:txBody>
      </p:sp>
      <p:sp>
        <p:nvSpPr>
          <p:cNvPr id="308" name="Google Shape;308;p21"/>
          <p:cNvSpPr/>
          <p:nvPr/>
        </p:nvSpPr>
        <p:spPr>
          <a:xfrm>
            <a:off x="12815900" y="7736675"/>
            <a:ext cx="1814400" cy="492900"/>
          </a:xfrm>
          <a:prstGeom prst="rect">
            <a:avLst/>
          </a:prstGeom>
          <a:solidFill>
            <a:srgbClr val="1B1C1D"/>
          </a:solidFill>
          <a:ln cap="flat" cmpd="sng" w="9525">
            <a:solidFill>
              <a:srgbClr val="1B1C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1"/>
          <p:cNvSpPr txBox="1"/>
          <p:nvPr/>
        </p:nvSpPr>
        <p:spPr>
          <a:xfrm>
            <a:off x="5986400" y="0"/>
            <a:ext cx="864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Muhammad Sameer | Muhammad Shahneel |Muhammad Arham | Muhammad Abdullah | Muhammad Ibad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2"/>
          <p:cNvSpPr/>
          <p:nvPr/>
        </p:nvSpPr>
        <p:spPr>
          <a:xfrm>
            <a:off x="793790" y="712708"/>
            <a:ext cx="725054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2E782"/>
              </a:buClr>
              <a:buSzPts val="4450"/>
              <a:buFont typeface="Prata"/>
              <a:buNone/>
            </a:pPr>
            <a:r>
              <a:rPr b="0" i="0" lang="en-US" sz="4450" u="none" cap="none" strike="noStrike">
                <a:solidFill>
                  <a:srgbClr val="F2E782"/>
                </a:solidFill>
                <a:latin typeface="Prata"/>
                <a:ea typeface="Prata"/>
                <a:cs typeface="Prata"/>
                <a:sym typeface="Prata"/>
              </a:rPr>
              <a:t>Project Summary: BidNest</a:t>
            </a:r>
            <a:endParaRPr b="0" i="0" sz="4450" u="none" cap="none" strike="noStrike"/>
          </a:p>
        </p:txBody>
      </p:sp>
      <p:sp>
        <p:nvSpPr>
          <p:cNvPr id="316" name="Google Shape;316;p22"/>
          <p:cNvSpPr/>
          <p:nvPr/>
        </p:nvSpPr>
        <p:spPr>
          <a:xfrm>
            <a:off x="793790" y="1875115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BidNest is a sophisticated online auction platform that solves the problem of conducting secure, transparent, and efficient online auctions.</a:t>
            </a:r>
            <a:endParaRPr b="0" i="0" sz="1750" u="none" cap="none" strike="noStrike"/>
          </a:p>
        </p:txBody>
      </p:sp>
      <p:sp>
        <p:nvSpPr>
          <p:cNvPr id="317" name="Google Shape;317;p22"/>
          <p:cNvSpPr/>
          <p:nvPr/>
        </p:nvSpPr>
        <p:spPr>
          <a:xfrm>
            <a:off x="793790" y="2856071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EE27D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EEE27D"/>
                </a:solidFill>
                <a:latin typeface="Raleway"/>
                <a:ea typeface="Raleway"/>
                <a:cs typeface="Raleway"/>
                <a:sym typeface="Raleway"/>
              </a:rPr>
              <a:t>Problem Solved:</a:t>
            </a: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Traditional auction systems lack real-time capabilities, proper user management, and comprehensive analytics. BidNest addresses these issues by providing:</a:t>
            </a:r>
            <a:endParaRPr b="0" i="0" sz="1750" u="none" cap="none" strike="noStrike"/>
          </a:p>
        </p:txBody>
      </p:sp>
      <p:sp>
        <p:nvSpPr>
          <p:cNvPr id="318" name="Google Shape;318;p22"/>
          <p:cNvSpPr/>
          <p:nvPr/>
        </p:nvSpPr>
        <p:spPr>
          <a:xfrm>
            <a:off x="793790" y="3837027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EE27D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EEE27D"/>
                </a:solidFill>
                <a:latin typeface="Raleway"/>
                <a:ea typeface="Raleway"/>
                <a:cs typeface="Raleway"/>
                <a:sym typeface="Raleway"/>
              </a:rPr>
              <a:t>Admin Panel Contribution:</a:t>
            </a: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Ensures platform integrity through user and content moderation, provides comprehensive system oversight and analytics, manages categories and maintains platform organization.</a:t>
            </a:r>
            <a:endParaRPr b="0" i="0" sz="1750" u="none" cap="none" strike="noStrike"/>
          </a:p>
        </p:txBody>
      </p:sp>
      <p:sp>
        <p:nvSpPr>
          <p:cNvPr id="319" name="Google Shape;319;p22"/>
          <p:cNvSpPr/>
          <p:nvPr/>
        </p:nvSpPr>
        <p:spPr>
          <a:xfrm>
            <a:off x="793790" y="4642128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EE27D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EEE27D"/>
                </a:solidFill>
                <a:latin typeface="Raleway"/>
                <a:ea typeface="Raleway"/>
                <a:cs typeface="Raleway"/>
                <a:sym typeface="Raleway"/>
              </a:rPr>
              <a:t>Seller Panel Contribution:</a:t>
            </a: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Empowers sellers with easy listing tools and detailed analytics, provides performance insights and earnings tracking, streamlines the selling process from creation to completion.</a:t>
            </a:r>
            <a:endParaRPr b="0" i="0" sz="1750" u="none" cap="none" strike="noStrike"/>
          </a:p>
        </p:txBody>
      </p:sp>
      <p:sp>
        <p:nvSpPr>
          <p:cNvPr id="320" name="Google Shape;320;p22"/>
          <p:cNvSpPr/>
          <p:nvPr/>
        </p:nvSpPr>
        <p:spPr>
          <a:xfrm>
            <a:off x="793790" y="5447228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EE27D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EEE27D"/>
                </a:solidFill>
                <a:latin typeface="Raleway"/>
                <a:ea typeface="Raleway"/>
                <a:cs typeface="Raleway"/>
                <a:sym typeface="Raleway"/>
              </a:rPr>
              <a:t>User Panel Contribution:</a:t>
            </a: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 Offers intuitive bidding interface with real-time updates, provides comprehensive bid tracking and watchlist functionality, ensures secure account management and transaction history.</a:t>
            </a:r>
            <a:endParaRPr b="0" i="0" sz="1750" u="none" cap="none" strike="noStrike"/>
          </a:p>
        </p:txBody>
      </p:sp>
      <p:sp>
        <p:nvSpPr>
          <p:cNvPr id="321" name="Google Shape;321;p22"/>
          <p:cNvSpPr/>
          <p:nvPr/>
        </p:nvSpPr>
        <p:spPr>
          <a:xfrm>
            <a:off x="793790" y="6428184"/>
            <a:ext cx="130428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CBBF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CFCBBF"/>
                </a:solidFill>
                <a:latin typeface="Raleway"/>
                <a:ea typeface="Raleway"/>
                <a:cs typeface="Raleway"/>
                <a:sym typeface="Raleway"/>
              </a:rPr>
              <a:t>The platform creates a complete ecosystem where administrators maintain order, sellers can effectively market their items, and buyers can participate in transparent, competitive auctions with confidence. The real-time bidding system, comprehensive analytics, and multi-role architecture make BidNest a complete solution for online auction management.</a:t>
            </a:r>
            <a:endParaRPr b="0" i="0" sz="1750" u="none" cap="none" strike="noStrike"/>
          </a:p>
        </p:txBody>
      </p:sp>
      <p:sp>
        <p:nvSpPr>
          <p:cNvPr id="322" name="Google Shape;322;p22"/>
          <p:cNvSpPr/>
          <p:nvPr/>
        </p:nvSpPr>
        <p:spPr>
          <a:xfrm>
            <a:off x="12815900" y="7736675"/>
            <a:ext cx="1814400" cy="492900"/>
          </a:xfrm>
          <a:prstGeom prst="rect">
            <a:avLst/>
          </a:prstGeom>
          <a:solidFill>
            <a:srgbClr val="1B1C1D"/>
          </a:solidFill>
          <a:ln cap="flat" cmpd="sng" w="9525">
            <a:solidFill>
              <a:srgbClr val="1B1C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2"/>
          <p:cNvSpPr txBox="1"/>
          <p:nvPr/>
        </p:nvSpPr>
        <p:spPr>
          <a:xfrm>
            <a:off x="5929200" y="0"/>
            <a:ext cx="870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Muhammad Sameer | Muhammad Shahneel |Muhammad Arham | Muhammad Abdullah | Muhammad Ibad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